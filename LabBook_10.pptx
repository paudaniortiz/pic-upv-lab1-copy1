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4"/>
  </p:notesMasterIdLst>
  <p:handoutMasterIdLst>
    <p:handoutMasterId r:id="rId15"/>
  </p:handoutMasterIdLst>
  <p:sldIdLst>
    <p:sldId id="256" r:id="rId2"/>
    <p:sldId id="295" r:id="rId3"/>
    <p:sldId id="290" r:id="rId4"/>
    <p:sldId id="300" r:id="rId5"/>
    <p:sldId id="292" r:id="rId6"/>
    <p:sldId id="301" r:id="rId7"/>
    <p:sldId id="297" r:id="rId8"/>
    <p:sldId id="298" r:id="rId9"/>
    <p:sldId id="293" r:id="rId10"/>
    <p:sldId id="299" r:id="rId11"/>
    <p:sldId id="302" r:id="rId12"/>
    <p:sldId id="288" r:id="rId1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3A380-F68D-4B97-8CF0-04FACEB71A64}" v="8" dt="2026-02-16T10:00:04.3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69" d="100"/>
          <a:sy n="69" d="100"/>
        </p:scale>
        <p:origin x="1164" y="60"/>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custSel addSld delSld modSld">
      <pc:chgData name="Christian Camilo Cano Vasquez" userId="8c73a2a4-758b-4e34-81ed-39462e48bd92" providerId="ADAL" clId="{E6287060-0277-4BCC-9556-78F4A9113EC4}" dt="2026-02-16T10:00:04.333" v="112"/>
      <pc:docMkLst>
        <pc:docMk/>
      </pc:docMkLst>
      <pc:sldChg chg="addSp delSp modSp mod">
        <pc:chgData name="Christian Camilo Cano Vasquez" userId="8c73a2a4-758b-4e34-81ed-39462e48bd92" providerId="ADAL" clId="{E6287060-0277-4BCC-9556-78F4A9113EC4}" dt="2026-02-16T09:54:36.314" v="109" actId="20577"/>
        <pc:sldMkLst>
          <pc:docMk/>
          <pc:sldMk cId="730501311" sldId="290"/>
        </pc:sldMkLst>
        <pc:spChg chg="add mod">
          <ac:chgData name="Christian Camilo Cano Vasquez" userId="8c73a2a4-758b-4e34-81ed-39462e48bd92" providerId="ADAL" clId="{E6287060-0277-4BCC-9556-78F4A9113EC4}" dt="2026-02-16T09:48:48.742" v="10" actId="1076"/>
          <ac:spMkLst>
            <pc:docMk/>
            <pc:sldMk cId="730501311" sldId="290"/>
            <ac:spMk id="2" creationId="{029F2FF9-FEB4-7AA3-B3B4-EFA9CFA0E230}"/>
          </ac:spMkLst>
        </pc:spChg>
        <pc:spChg chg="add mod">
          <ac:chgData name="Christian Camilo Cano Vasquez" userId="8c73a2a4-758b-4e34-81ed-39462e48bd92" providerId="ADAL" clId="{E6287060-0277-4BCC-9556-78F4A9113EC4}" dt="2026-02-16T09:49:37.395" v="33" actId="20577"/>
          <ac:spMkLst>
            <pc:docMk/>
            <pc:sldMk cId="730501311" sldId="290"/>
            <ac:spMk id="4" creationId="{C2C94B57-6111-4070-F6BA-8C3B9C305618}"/>
          </ac:spMkLst>
        </pc:spChg>
        <pc:spChg chg="del">
          <ac:chgData name="Christian Camilo Cano Vasquez" userId="8c73a2a4-758b-4e34-81ed-39462e48bd92" providerId="ADAL" clId="{E6287060-0277-4BCC-9556-78F4A9113EC4}" dt="2026-02-16T09:48:32.837" v="5" actId="478"/>
          <ac:spMkLst>
            <pc:docMk/>
            <pc:sldMk cId="730501311" sldId="290"/>
            <ac:spMk id="7" creationId="{F917B3AA-589C-A90A-EE95-EE60C6D04663}"/>
          </ac:spMkLst>
        </pc:spChg>
        <pc:spChg chg="del">
          <ac:chgData name="Christian Camilo Cano Vasquez" userId="8c73a2a4-758b-4e34-81ed-39462e48bd92" providerId="ADAL" clId="{E6287060-0277-4BCC-9556-78F4A9113EC4}" dt="2026-02-16T09:48:32.837" v="5" actId="478"/>
          <ac:spMkLst>
            <pc:docMk/>
            <pc:sldMk cId="730501311" sldId="290"/>
            <ac:spMk id="9" creationId="{793F5757-34AB-6F24-0981-9F1F15A0ADF8}"/>
          </ac:spMkLst>
        </pc:spChg>
        <pc:spChg chg="del">
          <ac:chgData name="Christian Camilo Cano Vasquez" userId="8c73a2a4-758b-4e34-81ed-39462e48bd92" providerId="ADAL" clId="{E6287060-0277-4BCC-9556-78F4A9113EC4}" dt="2026-02-16T09:48:35.096" v="6" actId="478"/>
          <ac:spMkLst>
            <pc:docMk/>
            <pc:sldMk cId="730501311" sldId="290"/>
            <ac:spMk id="11" creationId="{8BD4C233-B5D9-B6AA-93A8-CF2F130CFF9C}"/>
          </ac:spMkLst>
        </pc:spChg>
        <pc:spChg chg="mod">
          <ac:chgData name="Christian Camilo Cano Vasquez" userId="8c73a2a4-758b-4e34-81ed-39462e48bd92" providerId="ADAL" clId="{E6287060-0277-4BCC-9556-78F4A9113EC4}" dt="2026-02-16T09:54:36.314" v="109" actId="20577"/>
          <ac:spMkLst>
            <pc:docMk/>
            <pc:sldMk cId="730501311" sldId="290"/>
            <ac:spMk id="16" creationId="{471E1424-6C4B-2D9A-1352-30AFB987AD41}"/>
          </ac:spMkLst>
        </pc:spChg>
      </pc:sldChg>
      <pc:sldChg chg="modSp add del mod">
        <pc:chgData name="Christian Camilo Cano Vasquez" userId="8c73a2a4-758b-4e34-81ed-39462e48bd92" providerId="ADAL" clId="{E6287060-0277-4BCC-9556-78F4A9113EC4}" dt="2026-02-16T09:54:44.707" v="111" actId="20577"/>
        <pc:sldMkLst>
          <pc:docMk/>
          <pc:sldMk cId="2900117438" sldId="292"/>
        </pc:sldMkLst>
        <pc:spChg chg="mod">
          <ac:chgData name="Christian Camilo Cano Vasquez" userId="8c73a2a4-758b-4e34-81ed-39462e48bd92" providerId="ADAL" clId="{E6287060-0277-4BCC-9556-78F4A9113EC4}" dt="2026-02-16T09:51:39.768" v="80" actId="313"/>
          <ac:spMkLst>
            <pc:docMk/>
            <pc:sldMk cId="2900117438" sldId="292"/>
            <ac:spMk id="2" creationId="{82A62DD6-5488-72A1-9926-0CAEE59089A9}"/>
          </ac:spMkLst>
        </pc:spChg>
        <pc:spChg chg="mod">
          <ac:chgData name="Christian Camilo Cano Vasquez" userId="8c73a2a4-758b-4e34-81ed-39462e48bd92" providerId="ADAL" clId="{E6287060-0277-4BCC-9556-78F4A9113EC4}" dt="2026-02-16T09:54:44.707" v="111" actId="20577"/>
          <ac:spMkLst>
            <pc:docMk/>
            <pc:sldMk cId="2900117438" sldId="292"/>
            <ac:spMk id="16" creationId="{6AA2E789-F7AE-F068-274C-E0F13A22DBCA}"/>
          </ac:spMkLst>
        </pc:spChg>
      </pc:sldChg>
      <pc:sldChg chg="modSp add del mod">
        <pc:chgData name="Christian Camilo Cano Vasquez" userId="8c73a2a4-758b-4e34-81ed-39462e48bd92" providerId="ADAL" clId="{E6287060-0277-4BCC-9556-78F4A9113EC4}" dt="2026-02-16T09:50:51.822" v="37" actId="20577"/>
        <pc:sldMkLst>
          <pc:docMk/>
          <pc:sldMk cId="3660438245" sldId="293"/>
        </pc:sldMkLst>
        <pc:spChg chg="mod">
          <ac:chgData name="Christian Camilo Cano Vasquez" userId="8c73a2a4-758b-4e34-81ed-39462e48bd92" providerId="ADAL" clId="{E6287060-0277-4BCC-9556-78F4A9113EC4}" dt="2026-02-16T09:45:25.127" v="4" actId="115"/>
          <ac:spMkLst>
            <pc:docMk/>
            <pc:sldMk cId="3660438245" sldId="293"/>
            <ac:spMk id="2" creationId="{FDE3A197-9508-F9F1-1FEB-FF883D78C151}"/>
          </ac:spMkLst>
        </pc:spChg>
        <pc:spChg chg="mod">
          <ac:chgData name="Christian Camilo Cano Vasquez" userId="8c73a2a4-758b-4e34-81ed-39462e48bd92" providerId="ADAL" clId="{E6287060-0277-4BCC-9556-78F4A9113EC4}" dt="2026-02-16T09:50:51.822" v="37" actId="20577"/>
          <ac:spMkLst>
            <pc:docMk/>
            <pc:sldMk cId="3660438245" sldId="293"/>
            <ac:spMk id="16" creationId="{742C31CE-19F0-B995-0997-9A2D6A879BF7}"/>
          </ac:spMkLst>
        </pc:spChg>
      </pc:sldChg>
      <pc:sldChg chg="modSp mod">
        <pc:chgData name="Christian Camilo Cano Vasquez" userId="8c73a2a4-758b-4e34-81ed-39462e48bd92" providerId="ADAL" clId="{E6287060-0277-4BCC-9556-78F4A9113EC4}" dt="2026-02-16T10:00:04.333" v="112"/>
        <pc:sldMkLst>
          <pc:docMk/>
          <pc:sldMk cId="473922805" sldId="295"/>
        </pc:sldMkLst>
        <pc:spChg chg="mod">
          <ac:chgData name="Christian Camilo Cano Vasquez" userId="8c73a2a4-758b-4e34-81ed-39462e48bd92" providerId="ADAL" clId="{E6287060-0277-4BCC-9556-78F4A9113EC4}" dt="2026-02-16T10:00:04.333" v="112"/>
          <ac:spMkLst>
            <pc:docMk/>
            <pc:sldMk cId="473922805" sldId="295"/>
            <ac:spMk id="4" creationId="{9F7BC140-B3D8-C3CB-55AD-9064C7CDE9CA}"/>
          </ac:spMkLst>
        </pc:spChg>
      </pc:sldChg>
      <pc:sldChg chg="del">
        <pc:chgData name="Christian Camilo Cano Vasquez" userId="8c73a2a4-758b-4e34-81ed-39462e48bd92" providerId="ADAL" clId="{E6287060-0277-4BCC-9556-78F4A9113EC4}" dt="2026-02-16T09:50:39.931" v="34" actId="47"/>
        <pc:sldMkLst>
          <pc:docMk/>
          <pc:sldMk cId="1245186850" sldId="296"/>
        </pc:sldMkLst>
      </pc:sldChg>
      <pc:sldChg chg="modSp add del">
        <pc:chgData name="Christian Camilo Cano Vasquez" userId="8c73a2a4-758b-4e34-81ed-39462e48bd92" providerId="ADAL" clId="{E6287060-0277-4BCC-9556-78F4A9113EC4}" dt="2026-02-16T09:50:57.288" v="39" actId="20577"/>
        <pc:sldMkLst>
          <pc:docMk/>
          <pc:sldMk cId="236054401" sldId="297"/>
        </pc:sldMkLst>
        <pc:spChg chg="mod">
          <ac:chgData name="Christian Camilo Cano Vasquez" userId="8c73a2a4-758b-4e34-81ed-39462e48bd92" providerId="ADAL" clId="{E6287060-0277-4BCC-9556-78F4A9113EC4}" dt="2026-02-16T09:50:57.288" v="39" actId="20577"/>
          <ac:spMkLst>
            <pc:docMk/>
            <pc:sldMk cId="236054401" sldId="297"/>
            <ac:spMk id="16" creationId="{394400B4-EE16-8E85-AB54-E82FE3B293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03/03/2026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03/03/2026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859C1-E4C7-566E-DE33-4E89816DC4D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C0BBF76-8A11-2BAF-0D6C-AE2CF0ACAF9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D94EFFD-587A-E45F-BF5D-188981760D5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95E8DA2-EDAC-DAE3-2D88-63A7A187A548}"/>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1659804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566C-837D-827A-2D27-56E0458B28F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74B54E8-5577-B25E-A178-42EEE8FACB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0D6991F-0B07-C6A7-5125-47A971C7B5F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BE69CEB-B0C4-4D75-3A8F-08B2E8271E38}"/>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4424264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D2547-9BE9-E995-7995-15B65E2F409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EBA887C-A4F2-0119-3B58-777479AB345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CD85C9A-0E9B-17EF-1AB1-DD42D876E7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33AF8CC-73C0-4653-A67D-D556CD071446}"/>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4122615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D741A-1BEF-9BBE-95D6-0D814A96E25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A74441F-8744-FF93-61FF-583E5F93F1F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4FEF10-CE51-3EB1-20D5-7FEC62BD052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E688DF3-C50B-A8AE-3A11-912C98A1B2A1}"/>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106816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5749A-0B6F-FE31-B927-259D4CD92D1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F70F33D-5EB6-52E9-2B08-119781ED4E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B83A7C-8B4E-3A44-023D-BE07A76ABAF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C16D7CC-974D-EC06-4055-2B93F59EDC73}"/>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7651486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1"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0.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4.svg"/><Relationship Id="rId10" Type="http://schemas.openxmlformats.org/officeDocument/2006/relationships/image" Target="../media/image17.emf"/><Relationship Id="rId4" Type="http://schemas.openxmlformats.org/officeDocument/2006/relationships/image" Target="../media/image3.png"/><Relationship Id="rId9" Type="http://schemas.openxmlformats.org/officeDocument/2006/relationships/package" Target="../embeddings/Microsoft_Excel_Worksheet.xlsx"/></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5.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Paula Daniela Ortiz Cuervo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s-ES" dirty="0" err="1">
                <a:hlinkClick r:id="rId4"/>
              </a:rPr>
              <a:t>cccanvas-upv</a:t>
            </a:r>
            <a:r>
              <a:rPr lang="es-ES">
                <a:hlinkClick r:id="rId4"/>
              </a:rPr>
              <a:t>/pic-upv-lab1</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161033"/>
            <a:ext cx="10994410" cy="705321"/>
          </a:xfrm>
          <a:prstGeom prst="rect">
            <a:avLst/>
          </a:prstGeom>
        </p:spPr>
        <p:txBody>
          <a:bodyPr vert="horz" wrap="square" lIns="0" tIns="12700" rIns="0" bIns="0" rtlCol="0">
            <a:spAutoFit/>
          </a:bodyPr>
          <a:lstStyle/>
          <a:p>
            <a:pPr marL="12700">
              <a:lnSpc>
                <a:spcPct val="100000"/>
              </a:lnSpc>
              <a:spcBef>
                <a:spcPts val="100"/>
              </a:spcBef>
            </a:pPr>
            <a:r>
              <a:rPr lang="es-CO" sz="2500" noProof="0" dirty="0" err="1"/>
              <a:t>Learning</a:t>
            </a:r>
            <a:r>
              <a:rPr lang="es-CO" sz="2500" noProof="0" dirty="0"/>
              <a:t> </a:t>
            </a:r>
            <a:r>
              <a:rPr lang="es-CO" sz="2500" noProof="0" dirty="0" err="1"/>
              <a:t>outcome</a:t>
            </a:r>
            <a:r>
              <a:rPr lang="es-CO" sz="2500" noProof="0" dirty="0"/>
              <a:t> #1 – </a:t>
            </a:r>
            <a:r>
              <a:rPr lang="es-CO" sz="2500" noProof="0" dirty="0" err="1"/>
              <a:t>Convergence</a:t>
            </a:r>
            <a:r>
              <a:rPr lang="es-CO" sz="2500" noProof="0" dirty="0"/>
              <a:t> </a:t>
            </a:r>
            <a:r>
              <a:rPr lang="es-CO" sz="2500" noProof="0" dirty="0" err="1"/>
              <a:t>tests</a:t>
            </a:r>
            <a:br>
              <a:rPr lang="es-CO" sz="2500" noProof="0" dirty="0"/>
            </a:br>
            <a:r>
              <a:rPr lang="es-CO" b="0" noProof="0" dirty="0"/>
              <a:t>DE </a:t>
            </a:r>
            <a:r>
              <a:rPr lang="es-CO" b="0" noProof="0" dirty="0" err="1"/>
              <a:t>waveguide</a:t>
            </a:r>
            <a:r>
              <a:rPr lang="es-CO" b="0" noProof="0" dirty="0"/>
              <a:t>, w = 1.2 µm, neff_TE0, </a:t>
            </a:r>
            <a:r>
              <a:rPr lang="es-CO" b="0" noProof="0" dirty="0" err="1"/>
              <a:t>wvl</a:t>
            </a:r>
            <a:r>
              <a:rPr lang="es-CO" b="0" noProof="0" dirty="0"/>
              <a:t> 1.55 µm. </a:t>
            </a: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CO" noProof="0" smtClean="0"/>
              <a:t>3</a:t>
            </a:fld>
            <a:endParaRPr lang="es-CO" noProof="0" dirty="0"/>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CO" spc="-5" noProof="0" dirty="0"/>
              <a:t>LAB 1.0. WAVEGUIDES</a:t>
            </a:r>
          </a:p>
        </p:txBody>
      </p:sp>
      <p:sp>
        <p:nvSpPr>
          <p:cNvPr id="6" name="Rectángulo 5">
            <a:extLst>
              <a:ext uri="{FF2B5EF4-FFF2-40B4-BE49-F238E27FC236}">
                <a16:creationId xmlns:a16="http://schemas.microsoft.com/office/drawing/2014/main" id="{067C6D40-33EE-D9BE-7F58-8D96221D0D59}"/>
              </a:ext>
            </a:extLst>
          </p:cNvPr>
          <p:cNvSpPr/>
          <p:nvPr/>
        </p:nvSpPr>
        <p:spPr>
          <a:xfrm>
            <a:off x="304800" y="978277"/>
            <a:ext cx="4114959" cy="5078313"/>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sp>
        <p:nvSpPr>
          <p:cNvPr id="10" name="CuadroTexto 9">
            <a:extLst>
              <a:ext uri="{FF2B5EF4-FFF2-40B4-BE49-F238E27FC236}">
                <a16:creationId xmlns:a16="http://schemas.microsoft.com/office/drawing/2014/main" id="{C814CDD6-2B59-8488-4EB8-82801B4D3F22}"/>
              </a:ext>
            </a:extLst>
          </p:cNvPr>
          <p:cNvSpPr txBox="1"/>
          <p:nvPr/>
        </p:nvSpPr>
        <p:spPr>
          <a:xfrm>
            <a:off x="4496118" y="971350"/>
            <a:ext cx="7543482" cy="5078313"/>
          </a:xfrm>
          <a:prstGeom prst="rect">
            <a:avLst/>
          </a:prstGeom>
          <a:solidFill>
            <a:schemeClr val="bg1">
              <a:lumMod val="95000"/>
            </a:schemeClr>
          </a:solidFill>
          <a:ln w="28575">
            <a:solidFill>
              <a:srgbClr val="E0700D"/>
            </a:solidFill>
          </a:ln>
        </p:spPr>
        <p:txBody>
          <a:bodyPr wrap="square" rtlCol="0">
            <a:spAutoFit/>
          </a:bodyPr>
          <a:lstStyle/>
          <a:p>
            <a:pPr algn="just"/>
            <a:endParaRPr lang="es-CO" sz="1200" noProof="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Realizamos la simulación de como cambia el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efectivo a diferentes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resolutions</a:t>
            </a:r>
            <a:r>
              <a:rPr lang="es-CO" sz="1200" noProof="0" dirty="0">
                <a:latin typeface="Arial" panose="020B0604020202020204" pitchFamily="34" charset="0"/>
                <a:cs typeface="Arial" panose="020B0604020202020204" pitchFamily="34" charset="0"/>
              </a:rPr>
              <a:t>, para el caso de la </a:t>
            </a:r>
            <a:r>
              <a:rPr lang="es-CO" sz="1200" noProof="0" dirty="0" err="1">
                <a:latin typeface="Arial" panose="020B0604020202020204" pitchFamily="34" charset="0"/>
                <a:cs typeface="Arial" panose="020B0604020202020204" pitchFamily="34" charset="0"/>
              </a:rPr>
              <a:t>deep</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waveguide</a:t>
            </a:r>
            <a:r>
              <a:rPr lang="es-CO" sz="1200" noProof="0" dirty="0">
                <a:latin typeface="Arial" panose="020B0604020202020204" pitchFamily="34" charset="0"/>
                <a:cs typeface="Arial" panose="020B0604020202020204" pitchFamily="34" charset="0"/>
              </a:rPr>
              <a:t> para valores superiores a 50 de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resolution</a:t>
            </a:r>
            <a:r>
              <a:rPr lang="es-CO" sz="1200" noProof="0" dirty="0">
                <a:latin typeface="Arial" panose="020B0604020202020204" pitchFamily="34" charset="0"/>
                <a:cs typeface="Arial" panose="020B0604020202020204" pitchFamily="34" charset="0"/>
              </a:rPr>
              <a:t>   y al valor de 20, se tienen valores muy similares, es decir que no hay tanta variación entre los </a:t>
            </a:r>
            <a:r>
              <a:rPr lang="es-CO" sz="1200" noProof="0" dirty="0" err="1">
                <a:latin typeface="Arial" panose="020B0604020202020204" pitchFamily="34" charset="0"/>
                <a:cs typeface="Arial" panose="020B0604020202020204" pitchFamily="34" charset="0"/>
              </a:rPr>
              <a:t>indices</a:t>
            </a:r>
            <a:r>
              <a:rPr lang="es-CO" sz="1200" noProof="0" dirty="0">
                <a:latin typeface="Arial" panose="020B0604020202020204" pitchFamily="34" charset="0"/>
                <a:cs typeface="Arial" panose="020B0604020202020204" pitchFamily="34" charset="0"/>
              </a:rPr>
              <a:t> efectivos que da como resultado. Como </a:t>
            </a:r>
            <a:r>
              <a:rPr lang="es-CO" sz="1200" noProof="0" dirty="0" err="1">
                <a:latin typeface="Arial" panose="020B0604020202020204" pitchFamily="34" charset="0"/>
                <a:cs typeface="Arial" panose="020B0604020202020204" pitchFamily="34" charset="0"/>
              </a:rPr>
              <a:t>temenos</a:t>
            </a:r>
            <a:r>
              <a:rPr lang="es-CO" sz="1200" noProof="0" dirty="0">
                <a:latin typeface="Arial" panose="020B0604020202020204" pitchFamily="34" charset="0"/>
                <a:cs typeface="Arial" panose="020B0604020202020204" pitchFamily="34" charset="0"/>
              </a:rPr>
              <a:t> varios puntos que dan un resultado similar vamos a ver como varia el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efectivo si variamos el </a:t>
            </a:r>
            <a:r>
              <a:rPr lang="es-CO" sz="1200" noProof="0" dirty="0" err="1">
                <a:latin typeface="Arial" panose="020B0604020202020204" pitchFamily="34" charset="0"/>
                <a:cs typeface="Arial" panose="020B0604020202020204" pitchFamily="34" charset="0"/>
              </a:rPr>
              <a:t>max</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scaling</a:t>
            </a:r>
            <a:r>
              <a:rPr lang="es-CO" sz="1200" noProof="0" dirty="0">
                <a:latin typeface="Arial" panose="020B0604020202020204" pitchFamily="34" charset="0"/>
                <a:cs typeface="Arial" panose="020B0604020202020204" pitchFamily="34" charset="0"/>
              </a:rPr>
              <a:t> para valore de 20, 50 y 60 de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resolution</a:t>
            </a:r>
            <a:r>
              <a:rPr lang="es-CO" sz="1200" noProof="0" dirty="0">
                <a:latin typeface="Arial" panose="020B0604020202020204" pitchFamily="34" charset="0"/>
                <a:cs typeface="Arial" panose="020B0604020202020204" pitchFamily="34" charset="0"/>
              </a:rPr>
              <a:t>.</a:t>
            </a:r>
          </a:p>
          <a:p>
            <a:pPr algn="just"/>
            <a:endParaRPr lang="es-CO" sz="1200" noProof="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En el caso de 20, vemos que la gráfica no es tan estable, sin embargo en 1.30 el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efectivo se parece a los </a:t>
            </a:r>
            <a:r>
              <a:rPr lang="es-CO" sz="1200" noProof="0" dirty="0" err="1">
                <a:latin typeface="Arial" panose="020B0604020202020204" pitchFamily="34" charset="0"/>
                <a:cs typeface="Arial" panose="020B0604020202020204" pitchFamily="34" charset="0"/>
              </a:rPr>
              <a:t>resulatdos</a:t>
            </a:r>
            <a:r>
              <a:rPr lang="es-CO" sz="1200" noProof="0" dirty="0">
                <a:latin typeface="Arial" panose="020B0604020202020204" pitchFamily="34" charset="0"/>
                <a:cs typeface="Arial" panose="020B0604020202020204" pitchFamily="34" charset="0"/>
              </a:rPr>
              <a:t> de las otras gráficas. Para el caso de 50 encontramos que en 3 valores de </a:t>
            </a:r>
            <a:r>
              <a:rPr lang="es-CO" sz="1200" noProof="0" dirty="0" err="1">
                <a:latin typeface="Arial" panose="020B0604020202020204" pitchFamily="34" charset="0"/>
                <a:cs typeface="Arial" panose="020B0604020202020204" pitchFamily="34" charset="0"/>
              </a:rPr>
              <a:t>max</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scaling</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temenos</a:t>
            </a:r>
            <a:r>
              <a:rPr lang="es-CO" sz="1200" noProof="0" dirty="0">
                <a:latin typeface="Arial" panose="020B0604020202020204" pitchFamily="34" charset="0"/>
                <a:cs typeface="Arial" panose="020B0604020202020204" pitchFamily="34" charset="0"/>
              </a:rPr>
              <a:t> un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efectivo de 1.6054 aproximadamente. Por último, en el caso de 60 de resolución, en ese caso vemos como el </a:t>
            </a:r>
            <a:r>
              <a:rPr lang="es-CO" sz="1200" noProof="0" dirty="0" err="1">
                <a:latin typeface="Arial" panose="020B0604020202020204" pitchFamily="34" charset="0"/>
                <a:cs typeface="Arial" panose="020B0604020202020204" pitchFamily="34" charset="0"/>
              </a:rPr>
              <a:t>max</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resolution</a:t>
            </a:r>
            <a:r>
              <a:rPr lang="es-CO" sz="1200" noProof="0" dirty="0">
                <a:latin typeface="Arial" panose="020B0604020202020204" pitchFamily="34" charset="0"/>
                <a:cs typeface="Arial" panose="020B0604020202020204" pitchFamily="34" charset="0"/>
              </a:rPr>
              <a:t> tiene valores más parecidos a los que ya </a:t>
            </a:r>
            <a:r>
              <a:rPr lang="es-CO" sz="1200" noProof="0" dirty="0" err="1">
                <a:latin typeface="Arial" panose="020B0604020202020204" pitchFamily="34" charset="0"/>
                <a:cs typeface="Arial" panose="020B0604020202020204" pitchFamily="34" charset="0"/>
              </a:rPr>
              <a:t>habiamos</a:t>
            </a:r>
            <a:r>
              <a:rPr lang="es-CO" sz="1200" noProof="0" dirty="0">
                <a:latin typeface="Arial" panose="020B0604020202020204" pitchFamily="34" charset="0"/>
                <a:cs typeface="Arial" panose="020B0604020202020204" pitchFamily="34" charset="0"/>
              </a:rPr>
              <a:t> encontrado de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efectivo, viendo que en el </a:t>
            </a:r>
            <a:r>
              <a:rPr lang="es-CO" sz="1200" noProof="0" dirty="0" err="1">
                <a:latin typeface="Arial" panose="020B0604020202020204" pitchFamily="34" charset="0"/>
                <a:cs typeface="Arial" panose="020B0604020202020204" pitchFamily="34" charset="0"/>
              </a:rPr>
              <a:t>interval</a:t>
            </a:r>
            <a:r>
              <a:rPr lang="es-CO" sz="1200" noProof="0" dirty="0">
                <a:latin typeface="Arial" panose="020B0604020202020204" pitchFamily="34" charset="0"/>
                <a:cs typeface="Arial" panose="020B0604020202020204" pitchFamily="34" charset="0"/>
              </a:rPr>
              <a:t> de simulación que </a:t>
            </a:r>
            <a:r>
              <a:rPr lang="es-CO" sz="1200" noProof="0" dirty="0" err="1">
                <a:latin typeface="Arial" panose="020B0604020202020204" pitchFamily="34" charset="0"/>
                <a:cs typeface="Arial" panose="020B0604020202020204" pitchFamily="34" charset="0"/>
              </a:rPr>
              <a:t>temenos</a:t>
            </a:r>
            <a:r>
              <a:rPr lang="es-CO" sz="1200" noProof="0" dirty="0">
                <a:latin typeface="Arial" panose="020B0604020202020204" pitchFamily="34" charset="0"/>
                <a:cs typeface="Arial" panose="020B0604020202020204" pitchFamily="34" charset="0"/>
              </a:rPr>
              <a:t> solo uno de ellos tiene una variación más grande, mientras que los </a:t>
            </a:r>
            <a:r>
              <a:rPr lang="es-CO" sz="1200" noProof="0" dirty="0" err="1">
                <a:latin typeface="Arial" panose="020B0604020202020204" pitchFamily="34" charset="0"/>
                <a:cs typeface="Arial" panose="020B0604020202020204" pitchFamily="34" charset="0"/>
              </a:rPr>
              <a:t>demas</a:t>
            </a:r>
            <a:r>
              <a:rPr lang="es-CO" sz="1200" noProof="0" dirty="0">
                <a:latin typeface="Arial" panose="020B0604020202020204" pitchFamily="34" charset="0"/>
                <a:cs typeface="Arial" panose="020B0604020202020204" pitchFamily="34" charset="0"/>
              </a:rPr>
              <a:t> son más parecidos. </a:t>
            </a:r>
          </a:p>
          <a:p>
            <a:pPr algn="just"/>
            <a:endParaRPr lang="es-CO" sz="1200" noProof="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Debido al costo computacional y a que queremos </a:t>
            </a:r>
          </a:p>
          <a:p>
            <a:pPr algn="just"/>
            <a:r>
              <a:rPr lang="es-CO" sz="1200" noProof="0" dirty="0">
                <a:latin typeface="Arial" panose="020B0604020202020204" pitchFamily="34" charset="0"/>
                <a:cs typeface="Arial" panose="020B0604020202020204" pitchFamily="34" charset="0"/>
              </a:rPr>
              <a:t>tener el menor tiempo de simulación voy a escoger </a:t>
            </a:r>
          </a:p>
          <a:p>
            <a:pPr algn="just"/>
            <a:r>
              <a:rPr lang="es-CO" sz="1200" noProof="0" dirty="0">
                <a:latin typeface="Arial" panose="020B0604020202020204" pitchFamily="34" charset="0"/>
                <a:cs typeface="Arial" panose="020B0604020202020204" pitchFamily="34" charset="0"/>
              </a:rPr>
              <a:t>como parámetros el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resolution</a:t>
            </a:r>
            <a:r>
              <a:rPr lang="es-CO" sz="1200" noProof="0" dirty="0">
                <a:latin typeface="Arial" panose="020B0604020202020204" pitchFamily="34" charset="0"/>
                <a:cs typeface="Arial" panose="020B0604020202020204" pitchFamily="34" charset="0"/>
              </a:rPr>
              <a:t> igual a 20 y el </a:t>
            </a:r>
          </a:p>
          <a:p>
            <a:pPr algn="just"/>
            <a:r>
              <a:rPr lang="es-CO" sz="1200" noProof="0" dirty="0" err="1">
                <a:latin typeface="Arial" panose="020B0604020202020204" pitchFamily="34" charset="0"/>
                <a:cs typeface="Arial" panose="020B0604020202020204" pitchFamily="34" charset="0"/>
              </a:rPr>
              <a:t>max</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scaling</a:t>
            </a:r>
            <a:r>
              <a:rPr lang="es-CO" sz="1200" noProof="0" dirty="0">
                <a:latin typeface="Arial" panose="020B0604020202020204" pitchFamily="34" charset="0"/>
                <a:cs typeface="Arial" panose="020B0604020202020204" pitchFamily="34" charset="0"/>
              </a:rPr>
              <a:t> de 1.30, ya que tiene un resultado </a:t>
            </a:r>
          </a:p>
          <a:p>
            <a:pPr algn="just"/>
            <a:r>
              <a:rPr lang="es-CO" sz="1200" noProof="0" dirty="0">
                <a:latin typeface="Arial" panose="020B0604020202020204" pitchFamily="34" charset="0"/>
                <a:cs typeface="Arial" panose="020B0604020202020204" pitchFamily="34" charset="0"/>
              </a:rPr>
              <a:t>muy similar a los que tienen mayor número de </a:t>
            </a:r>
          </a:p>
          <a:p>
            <a:pPr algn="just"/>
            <a:r>
              <a:rPr lang="es-CO" sz="1200" noProof="0" dirty="0">
                <a:latin typeface="Arial" panose="020B0604020202020204" pitchFamily="34" charset="0"/>
                <a:cs typeface="Arial" panose="020B0604020202020204" pitchFamily="34" charset="0"/>
              </a:rPr>
              <a:t>puntos de </a:t>
            </a:r>
            <a:r>
              <a:rPr lang="es-CO" sz="1200" noProof="0" dirty="0" err="1">
                <a:latin typeface="Arial" panose="020B0604020202020204" pitchFamily="34" charset="0"/>
                <a:cs typeface="Arial" panose="020B0604020202020204" pitchFamily="34" charset="0"/>
              </a:rPr>
              <a:t>simuación</a:t>
            </a:r>
            <a:r>
              <a:rPr lang="es-CO" sz="1200" noProof="0" dirty="0">
                <a:latin typeface="Arial" panose="020B0604020202020204" pitchFamily="34" charset="0"/>
                <a:cs typeface="Arial" panose="020B0604020202020204" pitchFamily="34" charset="0"/>
              </a:rPr>
              <a:t>. Con estos parámetros </a:t>
            </a:r>
          </a:p>
          <a:p>
            <a:pPr algn="just"/>
            <a:r>
              <a:rPr lang="es-CO" sz="1200" noProof="0" dirty="0">
                <a:latin typeface="Arial" panose="020B0604020202020204" pitchFamily="34" charset="0"/>
                <a:cs typeface="Arial" panose="020B0604020202020204" pitchFamily="34" charset="0"/>
              </a:rPr>
              <a:t>tendremos una malla de simulación como la </a:t>
            </a:r>
          </a:p>
          <a:p>
            <a:pPr algn="just"/>
            <a:r>
              <a:rPr lang="es-CO" sz="1200" noProof="0" dirty="0">
                <a:latin typeface="Arial" panose="020B0604020202020204" pitchFamily="34" charset="0"/>
                <a:cs typeface="Arial" panose="020B0604020202020204" pitchFamily="34" charset="0"/>
              </a:rPr>
              <a:t>que se observa en la imagen, en donde </a:t>
            </a:r>
          </a:p>
          <a:p>
            <a:pPr algn="just"/>
            <a:r>
              <a:rPr lang="es-CO" sz="1200" noProof="0" dirty="0">
                <a:latin typeface="Arial" panose="020B0604020202020204" pitchFamily="34" charset="0"/>
                <a:cs typeface="Arial" panose="020B0604020202020204" pitchFamily="34" charset="0"/>
              </a:rPr>
              <a:t>habrán más puntos de simulación, es decir, </a:t>
            </a:r>
          </a:p>
          <a:p>
            <a:pPr algn="just"/>
            <a:r>
              <a:rPr lang="es-CO" sz="1200" noProof="0" dirty="0">
                <a:latin typeface="Arial" panose="020B0604020202020204" pitchFamily="34" charset="0"/>
                <a:cs typeface="Arial" panose="020B0604020202020204" pitchFamily="34" charset="0"/>
              </a:rPr>
              <a:t>mayor resolución, cuando hay cambios de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a:t>
            </a:r>
          </a:p>
          <a:p>
            <a:pPr algn="just"/>
            <a:r>
              <a:rPr lang="es-CO" sz="1200" noProof="0" dirty="0">
                <a:latin typeface="Arial" panose="020B0604020202020204" pitchFamily="34" charset="0"/>
                <a:cs typeface="Arial" panose="020B0604020202020204" pitchFamily="34" charset="0"/>
              </a:rPr>
              <a:t>de refracción. </a:t>
            </a: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p:txBody>
      </p:sp>
      <p:pic>
        <p:nvPicPr>
          <p:cNvPr id="7" name="Imagen 6" descr="Gráfico, Gráfico de líneas&#10;&#10;El contenido generado por IA puede ser incorrecto.">
            <a:extLst>
              <a:ext uri="{FF2B5EF4-FFF2-40B4-BE49-F238E27FC236}">
                <a16:creationId xmlns:a16="http://schemas.microsoft.com/office/drawing/2014/main" id="{51B25E00-5C8D-3A94-A9F8-655005DA4DA9}"/>
              </a:ext>
            </a:extLst>
          </p:cNvPr>
          <p:cNvPicPr>
            <a:picLocks noChangeAspect="1"/>
          </p:cNvPicPr>
          <p:nvPr/>
        </p:nvPicPr>
        <p:blipFill>
          <a:blip r:embed="rId5"/>
          <a:stretch>
            <a:fillRect/>
          </a:stretch>
        </p:blipFill>
        <p:spPr>
          <a:xfrm>
            <a:off x="381159" y="1151212"/>
            <a:ext cx="3960000" cy="2154167"/>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31BDF932-C004-AB0C-5B72-0D108A1B6DAB}"/>
              </a:ext>
            </a:extLst>
          </p:cNvPr>
          <p:cNvPicPr>
            <a:picLocks noChangeAspect="1"/>
          </p:cNvPicPr>
          <p:nvPr/>
        </p:nvPicPr>
        <p:blipFill>
          <a:blip r:embed="rId6"/>
          <a:stretch>
            <a:fillRect/>
          </a:stretch>
        </p:blipFill>
        <p:spPr>
          <a:xfrm>
            <a:off x="381159" y="3606424"/>
            <a:ext cx="3960000" cy="2283650"/>
          </a:xfrm>
          <a:prstGeom prst="rect">
            <a:avLst/>
          </a:prstGeom>
        </p:spPr>
      </p:pic>
      <p:pic>
        <p:nvPicPr>
          <p:cNvPr id="12" name="Imagen 11" descr="Imagen en blanco y negro&#10;&#10;El contenido generado por IA puede ser incorrecto.">
            <a:extLst>
              <a:ext uri="{FF2B5EF4-FFF2-40B4-BE49-F238E27FC236}">
                <a16:creationId xmlns:a16="http://schemas.microsoft.com/office/drawing/2014/main" id="{B26B7113-5D88-050F-2247-6DBF0090C6A3}"/>
              </a:ext>
            </a:extLst>
          </p:cNvPr>
          <p:cNvPicPr>
            <a:picLocks noChangeAspect="1"/>
          </p:cNvPicPr>
          <p:nvPr/>
        </p:nvPicPr>
        <p:blipFill>
          <a:blip r:embed="rId7"/>
          <a:stretch>
            <a:fillRect/>
          </a:stretch>
        </p:blipFill>
        <p:spPr>
          <a:xfrm>
            <a:off x="8610600" y="3435927"/>
            <a:ext cx="3200241" cy="2387481"/>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00995-5BFF-2A2D-8B21-ECBBD7E3B57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27F5DA6-A71E-C3F5-906A-542C8088818B}"/>
              </a:ext>
            </a:extLst>
          </p:cNvPr>
          <p:cNvSpPr txBox="1">
            <a:spLocks noGrp="1"/>
          </p:cNvSpPr>
          <p:nvPr>
            <p:ph type="title"/>
          </p:nvPr>
        </p:nvSpPr>
        <p:spPr>
          <a:xfrm>
            <a:off x="685800" y="161033"/>
            <a:ext cx="10994410" cy="705321"/>
          </a:xfrm>
          <a:prstGeom prst="rect">
            <a:avLst/>
          </a:prstGeom>
        </p:spPr>
        <p:txBody>
          <a:bodyPr vert="horz" wrap="square" lIns="0" tIns="12700" rIns="0" bIns="0" rtlCol="0">
            <a:spAutoFit/>
          </a:bodyPr>
          <a:lstStyle/>
          <a:p>
            <a:pPr marL="12700">
              <a:lnSpc>
                <a:spcPct val="100000"/>
              </a:lnSpc>
              <a:spcBef>
                <a:spcPts val="100"/>
              </a:spcBef>
            </a:pPr>
            <a:r>
              <a:rPr lang="es-CO" sz="2500" noProof="0" dirty="0" err="1"/>
              <a:t>Learning</a:t>
            </a:r>
            <a:r>
              <a:rPr lang="es-CO" sz="2500" noProof="0" dirty="0"/>
              <a:t> </a:t>
            </a:r>
            <a:r>
              <a:rPr lang="es-CO" sz="2500" noProof="0" dirty="0" err="1"/>
              <a:t>outcome</a:t>
            </a:r>
            <a:r>
              <a:rPr lang="es-CO" sz="2500" noProof="0" dirty="0"/>
              <a:t> #1 – </a:t>
            </a:r>
            <a:r>
              <a:rPr lang="es-CO" sz="2500" noProof="0" dirty="0" err="1"/>
              <a:t>Convergence</a:t>
            </a:r>
            <a:r>
              <a:rPr lang="es-CO" sz="2500" noProof="0" dirty="0"/>
              <a:t> </a:t>
            </a:r>
            <a:r>
              <a:rPr lang="es-CO" sz="2500" noProof="0" dirty="0" err="1"/>
              <a:t>tests</a:t>
            </a:r>
            <a:br>
              <a:rPr lang="es-CO" sz="2500" noProof="0" dirty="0"/>
            </a:br>
            <a:r>
              <a:rPr lang="es-CO" b="0" noProof="0" dirty="0"/>
              <a:t>DE </a:t>
            </a:r>
            <a:r>
              <a:rPr lang="es-CO" b="0" noProof="0" dirty="0" err="1"/>
              <a:t>waveguide</a:t>
            </a:r>
            <a:r>
              <a:rPr lang="es-CO" b="0" noProof="0" dirty="0"/>
              <a:t>, w = </a:t>
            </a:r>
            <a:r>
              <a:rPr lang="es-CO" b="0" dirty="0"/>
              <a:t>0.5</a:t>
            </a:r>
            <a:r>
              <a:rPr lang="es-CO" b="0" noProof="0" dirty="0"/>
              <a:t> µm, neff_TE0, </a:t>
            </a:r>
            <a:r>
              <a:rPr lang="es-CO" b="0" noProof="0" dirty="0" err="1"/>
              <a:t>wvl</a:t>
            </a:r>
            <a:r>
              <a:rPr lang="es-CO" b="0" noProof="0" dirty="0"/>
              <a:t> 1.55 µm.  Silicon </a:t>
            </a:r>
            <a:r>
              <a:rPr lang="es-CO" b="0" noProof="0" dirty="0" err="1"/>
              <a:t>On</a:t>
            </a:r>
            <a:r>
              <a:rPr lang="es-CO" b="0" noProof="0" dirty="0"/>
              <a:t> </a:t>
            </a:r>
            <a:r>
              <a:rPr lang="es-CO" b="0" noProof="0" dirty="0" err="1"/>
              <a:t>Insulator</a:t>
            </a: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DAE737A7-101F-33E2-41EB-8CF84E6184D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7C11785-1B59-5368-EB92-3D104840C51E}"/>
              </a:ext>
            </a:extLst>
          </p:cNvPr>
          <p:cNvSpPr>
            <a:spLocks noGrp="1"/>
          </p:cNvSpPr>
          <p:nvPr>
            <p:ph type="sldNum" sz="quarter" idx="7"/>
          </p:nvPr>
        </p:nvSpPr>
        <p:spPr/>
        <p:txBody>
          <a:bodyPr/>
          <a:lstStyle/>
          <a:p>
            <a:fld id="{B6F15528-21DE-4FAA-801E-634DDDAF4B2B}" type="slidenum">
              <a:rPr lang="es-CO" noProof="0" smtClean="0"/>
              <a:t>4</a:t>
            </a:fld>
            <a:endParaRPr lang="es-CO" noProof="0" dirty="0"/>
          </a:p>
        </p:txBody>
      </p:sp>
      <p:sp>
        <p:nvSpPr>
          <p:cNvPr id="3" name="Marcador de pie de página 2">
            <a:extLst>
              <a:ext uri="{FF2B5EF4-FFF2-40B4-BE49-F238E27FC236}">
                <a16:creationId xmlns:a16="http://schemas.microsoft.com/office/drawing/2014/main" id="{8F3E2ADD-0EFD-A26F-F182-AB3F41A73E04}"/>
              </a:ext>
            </a:extLst>
          </p:cNvPr>
          <p:cNvSpPr>
            <a:spLocks noGrp="1"/>
          </p:cNvSpPr>
          <p:nvPr>
            <p:ph type="ftr" sz="quarter" idx="5"/>
          </p:nvPr>
        </p:nvSpPr>
        <p:spPr/>
        <p:txBody>
          <a:bodyPr/>
          <a:lstStyle/>
          <a:p>
            <a:pPr marL="12700">
              <a:spcBef>
                <a:spcPts val="15"/>
              </a:spcBef>
            </a:pPr>
            <a:r>
              <a:rPr lang="es-CO" spc="-5" noProof="0" dirty="0"/>
              <a:t>LAB 1.0. WAVEGUIDES</a:t>
            </a:r>
          </a:p>
        </p:txBody>
      </p:sp>
      <p:sp>
        <p:nvSpPr>
          <p:cNvPr id="6" name="Rectángulo 5">
            <a:extLst>
              <a:ext uri="{FF2B5EF4-FFF2-40B4-BE49-F238E27FC236}">
                <a16:creationId xmlns:a16="http://schemas.microsoft.com/office/drawing/2014/main" id="{FD851BB8-16C4-0702-BEE3-8F741CACB607}"/>
              </a:ext>
            </a:extLst>
          </p:cNvPr>
          <p:cNvSpPr/>
          <p:nvPr/>
        </p:nvSpPr>
        <p:spPr>
          <a:xfrm>
            <a:off x="304800" y="978277"/>
            <a:ext cx="4114959" cy="5078313"/>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sp>
        <p:nvSpPr>
          <p:cNvPr id="10" name="CuadroTexto 9">
            <a:extLst>
              <a:ext uri="{FF2B5EF4-FFF2-40B4-BE49-F238E27FC236}">
                <a16:creationId xmlns:a16="http://schemas.microsoft.com/office/drawing/2014/main" id="{B5896CD9-E412-27E5-448F-B478BBE54A10}"/>
              </a:ext>
            </a:extLst>
          </p:cNvPr>
          <p:cNvSpPr txBox="1"/>
          <p:nvPr/>
        </p:nvSpPr>
        <p:spPr>
          <a:xfrm>
            <a:off x="4496118" y="971350"/>
            <a:ext cx="7543482" cy="5078313"/>
          </a:xfrm>
          <a:prstGeom prst="rect">
            <a:avLst/>
          </a:prstGeom>
          <a:solidFill>
            <a:schemeClr val="bg1">
              <a:lumMod val="95000"/>
            </a:schemeClr>
          </a:solidFill>
          <a:ln w="28575">
            <a:solidFill>
              <a:srgbClr val="E0700D"/>
            </a:solidFill>
          </a:ln>
        </p:spPr>
        <p:txBody>
          <a:bodyPr wrap="square" rtlCol="0">
            <a:spAutoFit/>
          </a:bodyPr>
          <a:lstStyle/>
          <a:p>
            <a:pPr algn="just"/>
            <a:endParaRPr lang="es-CO" sz="1200" noProof="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Ahora, en el caso de </a:t>
            </a:r>
            <a:r>
              <a:rPr lang="es-CO" sz="1200" noProof="0" dirty="0" err="1">
                <a:latin typeface="Arial" panose="020B0604020202020204" pitchFamily="34" charset="0"/>
                <a:cs typeface="Arial" panose="020B0604020202020204" pitchFamily="34" charset="0"/>
              </a:rPr>
              <a:t>silicon</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on</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insulator</a:t>
            </a:r>
            <a:r>
              <a:rPr lang="es-CO" sz="1200" noProof="0" dirty="0">
                <a:latin typeface="Arial" panose="020B0604020202020204" pitchFamily="34" charset="0"/>
                <a:cs typeface="Arial" panose="020B0604020202020204" pitchFamily="34" charset="0"/>
              </a:rPr>
              <a:t>, vemos como para valores de 2 y de 40 a 70 tenemos índices efectivos muy parecidos. Como en el caso anterior, se </a:t>
            </a:r>
            <a:r>
              <a:rPr lang="es-CO" sz="1200" noProof="0" dirty="0" err="1">
                <a:latin typeface="Arial" panose="020B0604020202020204" pitchFamily="34" charset="0"/>
                <a:cs typeface="Arial" panose="020B0604020202020204" pitchFamily="34" charset="0"/>
              </a:rPr>
              <a:t>selecionaron</a:t>
            </a:r>
            <a:r>
              <a:rPr lang="es-CO" sz="1200" noProof="0" dirty="0">
                <a:latin typeface="Arial" panose="020B0604020202020204" pitchFamily="34" charset="0"/>
                <a:cs typeface="Arial" panose="020B0604020202020204" pitchFamily="34" charset="0"/>
              </a:rPr>
              <a:t> 3 </a:t>
            </a:r>
            <a:r>
              <a:rPr lang="es-CO" sz="1200" noProof="0" dirty="0" err="1">
                <a:latin typeface="Arial" panose="020B0604020202020204" pitchFamily="34" charset="0"/>
                <a:cs typeface="Arial" panose="020B0604020202020204" pitchFamily="34" charset="0"/>
              </a:rPr>
              <a:t>valors</a:t>
            </a:r>
            <a:r>
              <a:rPr lang="es-CO" sz="1200" noProof="0" dirty="0">
                <a:latin typeface="Arial" panose="020B0604020202020204" pitchFamily="34" charset="0"/>
                <a:cs typeface="Arial" panose="020B0604020202020204" pitchFamily="34" charset="0"/>
              </a:rPr>
              <a:t> de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resolution</a:t>
            </a:r>
            <a:r>
              <a:rPr lang="es-CO" sz="1200" noProof="0" dirty="0">
                <a:latin typeface="Arial" panose="020B0604020202020204" pitchFamily="34" charset="0"/>
                <a:cs typeface="Arial" panose="020B0604020202020204" pitchFamily="34" charset="0"/>
              </a:rPr>
              <a:t> para ahora variar el </a:t>
            </a:r>
            <a:r>
              <a:rPr lang="es-CO" sz="1200" noProof="0" dirty="0" err="1">
                <a:latin typeface="Arial" panose="020B0604020202020204" pitchFamily="34" charset="0"/>
                <a:cs typeface="Arial" panose="020B0604020202020204" pitchFamily="34" charset="0"/>
              </a:rPr>
              <a:t>max</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scaling</a:t>
            </a:r>
            <a:r>
              <a:rPr lang="es-CO" sz="1200" noProof="0" dirty="0">
                <a:latin typeface="Arial" panose="020B0604020202020204" pitchFamily="34" charset="0"/>
                <a:cs typeface="Arial" panose="020B0604020202020204" pitchFamily="34" charset="0"/>
              </a:rPr>
              <a:t> y ver cuales son los valores que favorecen más esta </a:t>
            </a:r>
            <a:r>
              <a:rPr lang="es-CO" sz="1200" noProof="0" dirty="0" err="1">
                <a:latin typeface="Arial" panose="020B0604020202020204" pitchFamily="34" charset="0"/>
                <a:cs typeface="Arial" panose="020B0604020202020204" pitchFamily="34" charset="0"/>
              </a:rPr>
              <a:t>waveguide</a:t>
            </a:r>
            <a:r>
              <a:rPr lang="es-CO" sz="1200" noProof="0" dirty="0">
                <a:latin typeface="Arial" panose="020B0604020202020204" pitchFamily="34" charset="0"/>
                <a:cs typeface="Arial" panose="020B0604020202020204" pitchFamily="34" charset="0"/>
              </a:rPr>
              <a:t>. Se tomaron valores de 20, 40 y 50 de </a:t>
            </a:r>
            <a:r>
              <a:rPr lang="es-CO" sz="1200" noProof="0" dirty="0" err="1">
                <a:latin typeface="Arial" panose="020B0604020202020204" pitchFamily="34" charset="0"/>
                <a:cs typeface="Arial" panose="020B0604020202020204" pitchFamily="34" charset="0"/>
              </a:rPr>
              <a:t>grid</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resolution</a:t>
            </a:r>
            <a:r>
              <a:rPr lang="es-CO" sz="1200" noProof="0" dirty="0">
                <a:latin typeface="Arial" panose="020B0604020202020204" pitchFamily="34" charset="0"/>
                <a:cs typeface="Arial" panose="020B0604020202020204" pitchFamily="34" charset="0"/>
              </a:rPr>
              <a:t>. </a:t>
            </a:r>
          </a:p>
          <a:p>
            <a:pPr algn="just"/>
            <a:endParaRPr lang="es-CO" sz="120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Vemos que para 20 tenemos casi en toda la escala escogida el mismo índice efectivo, mientras que para valores más altos no tanto. Teniendo en cuenta el menor costo computacional y tiempo se escoge el valore de 1.30 para el </a:t>
            </a:r>
            <a:r>
              <a:rPr lang="es-CO" sz="1200" noProof="0" dirty="0" err="1">
                <a:latin typeface="Arial" panose="020B0604020202020204" pitchFamily="34" charset="0"/>
                <a:cs typeface="Arial" panose="020B0604020202020204" pitchFamily="34" charset="0"/>
              </a:rPr>
              <a:t>max</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grid</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scaling</a:t>
            </a:r>
            <a:r>
              <a:rPr lang="es-CO" sz="1200" dirty="0">
                <a:latin typeface="Arial" panose="020B0604020202020204" pitchFamily="34" charset="0"/>
                <a:cs typeface="Arial" panose="020B0604020202020204" pitchFamily="34" charset="0"/>
              </a:rPr>
              <a:t>, de manera que se tendrían las mismas especificaciones que para el caso anterior. A comparación del caso anterior, vemos que se podrían escoger diferentes valores de </a:t>
            </a:r>
            <a:r>
              <a:rPr lang="es-CO" sz="1200" dirty="0" err="1">
                <a:latin typeface="Arial" panose="020B0604020202020204" pitchFamily="34" charset="0"/>
                <a:cs typeface="Arial" panose="020B0604020202020204" pitchFamily="34" charset="0"/>
              </a:rPr>
              <a:t>max</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grid</a:t>
            </a:r>
            <a:r>
              <a:rPr lang="es-CO" sz="1200" dirty="0">
                <a:latin typeface="Arial" panose="020B0604020202020204" pitchFamily="34" charset="0"/>
                <a:cs typeface="Arial" panose="020B0604020202020204" pitchFamily="34" charset="0"/>
              </a:rPr>
              <a:t> para e mismo valor de 20 de </a:t>
            </a:r>
            <a:r>
              <a:rPr lang="es-CO" sz="1200" dirty="0" err="1">
                <a:latin typeface="Arial" panose="020B0604020202020204" pitchFamily="34" charset="0"/>
                <a:cs typeface="Arial" panose="020B0604020202020204" pitchFamily="34" charset="0"/>
              </a:rPr>
              <a:t>grid</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resolution</a:t>
            </a:r>
            <a:r>
              <a:rPr lang="es-CO" sz="1200" dirty="0">
                <a:latin typeface="Arial" panose="020B0604020202020204" pitchFamily="34" charset="0"/>
                <a:cs typeface="Arial" panose="020B0604020202020204" pitchFamily="34" charset="0"/>
              </a:rPr>
              <a:t>, así que se podrían simular muchos más puntos cuando hay cambios de índice de refracción sin que cambie el índice efectivo o adicionar más </a:t>
            </a:r>
            <a:r>
              <a:rPr lang="es-CO" sz="1200" dirty="0" err="1">
                <a:latin typeface="Arial" panose="020B0604020202020204" pitchFamily="34" charset="0"/>
                <a:cs typeface="Arial" panose="020B0604020202020204" pitchFamily="34" charset="0"/>
              </a:rPr>
              <a:t>grid</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resolution</a:t>
            </a:r>
            <a:r>
              <a:rPr lang="es-CO" sz="1200" dirty="0">
                <a:latin typeface="Arial" panose="020B0604020202020204" pitchFamily="34" charset="0"/>
                <a:cs typeface="Arial" panose="020B0604020202020204" pitchFamily="34" charset="0"/>
              </a:rPr>
              <a:t>. </a:t>
            </a: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p:txBody>
      </p:sp>
      <p:pic>
        <p:nvPicPr>
          <p:cNvPr id="4" name="Imagen 3">
            <a:extLst>
              <a:ext uri="{FF2B5EF4-FFF2-40B4-BE49-F238E27FC236}">
                <a16:creationId xmlns:a16="http://schemas.microsoft.com/office/drawing/2014/main" id="{63105ECD-34F3-8AF2-69E7-3843C8ABAB28}"/>
              </a:ext>
            </a:extLst>
          </p:cNvPr>
          <p:cNvPicPr>
            <a:picLocks noChangeAspect="1"/>
          </p:cNvPicPr>
          <p:nvPr/>
        </p:nvPicPr>
        <p:blipFill>
          <a:blip r:embed="rId5"/>
          <a:stretch>
            <a:fillRect/>
          </a:stretch>
        </p:blipFill>
        <p:spPr>
          <a:xfrm>
            <a:off x="381159" y="1203930"/>
            <a:ext cx="3960000" cy="2176842"/>
          </a:xfrm>
          <a:prstGeom prst="rect">
            <a:avLst/>
          </a:prstGeom>
        </p:spPr>
      </p:pic>
      <p:pic>
        <p:nvPicPr>
          <p:cNvPr id="8" name="Imagen 7">
            <a:extLst>
              <a:ext uri="{FF2B5EF4-FFF2-40B4-BE49-F238E27FC236}">
                <a16:creationId xmlns:a16="http://schemas.microsoft.com/office/drawing/2014/main" id="{6C8393BB-9FAE-5E11-5052-2877EF0E73DC}"/>
              </a:ext>
            </a:extLst>
          </p:cNvPr>
          <p:cNvPicPr>
            <a:picLocks noChangeAspect="1"/>
          </p:cNvPicPr>
          <p:nvPr/>
        </p:nvPicPr>
        <p:blipFill>
          <a:blip r:embed="rId6"/>
          <a:stretch>
            <a:fillRect/>
          </a:stretch>
        </p:blipFill>
        <p:spPr>
          <a:xfrm>
            <a:off x="381159" y="3515472"/>
            <a:ext cx="3960000" cy="2336965"/>
          </a:xfrm>
          <a:prstGeom prst="rect">
            <a:avLst/>
          </a:prstGeom>
        </p:spPr>
      </p:pic>
      <p:pic>
        <p:nvPicPr>
          <p:cNvPr id="13" name="Imagen 12">
            <a:extLst>
              <a:ext uri="{FF2B5EF4-FFF2-40B4-BE49-F238E27FC236}">
                <a16:creationId xmlns:a16="http://schemas.microsoft.com/office/drawing/2014/main" id="{5198C039-470B-0805-480D-5FC2784296CD}"/>
              </a:ext>
            </a:extLst>
          </p:cNvPr>
          <p:cNvPicPr>
            <a:picLocks noChangeAspect="1"/>
          </p:cNvPicPr>
          <p:nvPr/>
        </p:nvPicPr>
        <p:blipFill>
          <a:blip r:embed="rId7"/>
          <a:stretch>
            <a:fillRect/>
          </a:stretch>
        </p:blipFill>
        <p:spPr>
          <a:xfrm>
            <a:off x="6497193" y="3271660"/>
            <a:ext cx="3505200" cy="2614990"/>
          </a:xfrm>
          <a:prstGeom prst="rect">
            <a:avLst/>
          </a:prstGeom>
        </p:spPr>
      </p:pic>
    </p:spTree>
    <p:extLst>
      <p:ext uri="{BB962C8B-B14F-4D97-AF65-F5344CB8AC3E}">
        <p14:creationId xmlns:p14="http://schemas.microsoft.com/office/powerpoint/2010/main" val="15991554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s-CO" sz="2500" noProof="0" dirty="0" err="1"/>
              <a:t>Learning</a:t>
            </a:r>
            <a:r>
              <a:rPr lang="es-CO" sz="2500" noProof="0" dirty="0"/>
              <a:t> </a:t>
            </a:r>
            <a:r>
              <a:rPr lang="es-CO" sz="2500" noProof="0" dirty="0" err="1"/>
              <a:t>outcome</a:t>
            </a:r>
            <a:r>
              <a:rPr lang="es-CO" sz="2500" noProof="0" dirty="0"/>
              <a:t> #2 – </a:t>
            </a:r>
            <a:r>
              <a:rPr lang="es-CO" sz="2500" noProof="0" dirty="0" err="1"/>
              <a:t>Width</a:t>
            </a:r>
            <a:r>
              <a:rPr lang="es-CO" sz="2500" noProof="0" dirty="0"/>
              <a:t> </a:t>
            </a:r>
            <a:r>
              <a:rPr lang="es-CO" sz="2500" noProof="0" dirty="0" err="1"/>
              <a:t>dependence</a:t>
            </a:r>
            <a:br>
              <a:rPr lang="es-CO" sz="2500" spc="-5" noProof="0" dirty="0">
                <a:latin typeface="+mj-lt"/>
                <a:cs typeface="Lucida Sans"/>
              </a:rPr>
            </a:br>
            <a:r>
              <a:rPr lang="es-CO" b="0" noProof="0" dirty="0" err="1"/>
              <a:t>Width</a:t>
            </a:r>
            <a:r>
              <a:rPr lang="es-CO" b="0" noProof="0" dirty="0"/>
              <a:t> 0.6 - 1.6 µm (step 0.1 µm) – </a:t>
            </a:r>
            <a:r>
              <a:rPr lang="es-CO" b="0" noProof="0" dirty="0" err="1"/>
              <a:t>Wavelength</a:t>
            </a:r>
            <a:r>
              <a:rPr lang="es-CO" b="0" noProof="0" dirty="0"/>
              <a:t> 1.55 µm </a:t>
            </a: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CO" noProof="0" smtClean="0"/>
              <a:t>5</a:t>
            </a:fld>
            <a:endParaRPr lang="es-CO" noProof="0" dirty="0"/>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CO" spc="-5" noProof="0" dirty="0"/>
              <a:t>LAB 0.1. MODESOLVER</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s-CO" sz="1200" noProof="0" dirty="0">
                <a:latin typeface="Arial" panose="020B0604020202020204" pitchFamily="34" charset="0"/>
                <a:cs typeface="Arial" panose="020B0604020202020204" pitchFamily="34" charset="0"/>
              </a:rPr>
              <a:t>Vemos como a mayor ancho de la </a:t>
            </a:r>
            <a:r>
              <a:rPr lang="es-CO" sz="1200" noProof="0" dirty="0" err="1">
                <a:latin typeface="Arial" panose="020B0604020202020204" pitchFamily="34" charset="0"/>
                <a:cs typeface="Arial" panose="020B0604020202020204" pitchFamily="34" charset="0"/>
              </a:rPr>
              <a:t>guia</a:t>
            </a:r>
            <a:r>
              <a:rPr lang="es-CO" sz="1200" noProof="0" dirty="0">
                <a:latin typeface="Arial" panose="020B0604020202020204" pitchFamily="34" charset="0"/>
                <a:cs typeface="Arial" panose="020B0604020202020204" pitchFamily="34" charset="0"/>
              </a:rPr>
              <a:t> de onda aumentan los modos de propagación, pues con 0.6 </a:t>
            </a:r>
            <a:r>
              <a:rPr lang="es-CO" sz="1200" noProof="0" dirty="0" err="1">
                <a:latin typeface="Arial" panose="020B0604020202020204" pitchFamily="34" charset="0"/>
                <a:cs typeface="Arial" panose="020B0604020202020204" pitchFamily="34" charset="0"/>
              </a:rPr>
              <a:t>um</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temenos</a:t>
            </a:r>
            <a:r>
              <a:rPr lang="es-CO" sz="1200" noProof="0" dirty="0">
                <a:latin typeface="Arial" panose="020B0604020202020204" pitchFamily="34" charset="0"/>
                <a:cs typeface="Arial" panose="020B0604020202020204" pitchFamily="34" charset="0"/>
              </a:rPr>
              <a:t> solo los modos </a:t>
            </a:r>
            <a:r>
              <a:rPr lang="es-CO" sz="1200" noProof="0" dirty="0" err="1">
                <a:latin typeface="Arial" panose="020B0604020202020204" pitchFamily="34" charset="0"/>
                <a:cs typeface="Arial" panose="020B0604020202020204" pitchFamily="34" charset="0"/>
              </a:rPr>
              <a:t>fundamentals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propagandose</a:t>
            </a:r>
            <a:r>
              <a:rPr lang="es-CO" sz="1200" noProof="0" dirty="0">
                <a:latin typeface="Arial" panose="020B0604020202020204" pitchFamily="34" charset="0"/>
                <a:cs typeface="Arial" panose="020B0604020202020204" pitchFamily="34" charset="0"/>
              </a:rPr>
              <a:t>, de manera que, es una </a:t>
            </a:r>
            <a:r>
              <a:rPr lang="es-CO" sz="1200" noProof="0" dirty="0" err="1">
                <a:latin typeface="Arial" panose="020B0604020202020204" pitchFamily="34" charset="0"/>
                <a:cs typeface="Arial" panose="020B0604020202020204" pitchFamily="34" charset="0"/>
              </a:rPr>
              <a:t>guia</a:t>
            </a:r>
            <a:r>
              <a:rPr lang="es-CO" sz="1200" noProof="0" dirty="0">
                <a:latin typeface="Arial" panose="020B0604020202020204" pitchFamily="34" charset="0"/>
                <a:cs typeface="Arial" panose="020B0604020202020204" pitchFamily="34" charset="0"/>
              </a:rPr>
              <a:t> monomodal si controlamos la polarización con la que entra la luz, es decir que solo ingrese luz con polarización TE o TM. </a:t>
            </a:r>
            <a:r>
              <a:rPr lang="es-CO" sz="1200" noProof="0" dirty="0" err="1">
                <a:latin typeface="Arial" panose="020B0604020202020204" pitchFamily="34" charset="0"/>
                <a:cs typeface="Arial" panose="020B0604020202020204" pitchFamily="34" charset="0"/>
              </a:rPr>
              <a:t>Tambien</a:t>
            </a:r>
            <a:r>
              <a:rPr lang="es-CO" sz="1200" noProof="0" dirty="0">
                <a:latin typeface="Arial" panose="020B0604020202020204" pitchFamily="34" charset="0"/>
                <a:cs typeface="Arial" panose="020B0604020202020204" pitchFamily="34" charset="0"/>
              </a:rPr>
              <a:t> vemos como a medida que aumenta el ancho, aumenta el valor del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efectivo, pasando de 1.51172534 para el primer modo hasta 1.63222705, teniendo una diferencia de 0.121 desde el </a:t>
            </a:r>
            <a:r>
              <a:rPr lang="es-CO" sz="1200" noProof="0" dirty="0" err="1">
                <a:latin typeface="Arial" panose="020B0604020202020204" pitchFamily="34" charset="0"/>
                <a:cs typeface="Arial" panose="020B0604020202020204" pitchFamily="34" charset="0"/>
              </a:rPr>
              <a:t>indice</a:t>
            </a:r>
            <a:r>
              <a:rPr lang="es-CO" sz="1200" noProof="0" dirty="0">
                <a:latin typeface="Arial" panose="020B0604020202020204" pitchFamily="34" charset="0"/>
                <a:cs typeface="Arial" panose="020B0604020202020204" pitchFamily="34" charset="0"/>
              </a:rPr>
              <a:t> inicial al final, este aumento nos muestra que al ampliar la sección transversal en x el modo se confina más dentro de la </a:t>
            </a:r>
            <a:r>
              <a:rPr lang="es-CO" sz="1200" noProof="0" dirty="0" err="1">
                <a:latin typeface="Arial" panose="020B0604020202020204" pitchFamily="34" charset="0"/>
                <a:cs typeface="Arial" panose="020B0604020202020204" pitchFamily="34" charset="0"/>
              </a:rPr>
              <a:t>guia</a:t>
            </a:r>
            <a:r>
              <a:rPr lang="es-CO" sz="1200" noProof="0" dirty="0">
                <a:latin typeface="Arial" panose="020B0604020202020204" pitchFamily="34" charset="0"/>
                <a:cs typeface="Arial" panose="020B0604020202020204" pitchFamily="34" charset="0"/>
              </a:rPr>
              <a:t> de onda. Otro </a:t>
            </a:r>
            <a:r>
              <a:rPr lang="es-CO" sz="1200" noProof="0" dirty="0" err="1">
                <a:latin typeface="Arial" panose="020B0604020202020204" pitchFamily="34" charset="0"/>
                <a:cs typeface="Arial" panose="020B0604020202020204" pitchFamily="34" charset="0"/>
              </a:rPr>
              <a:t>aspect</a:t>
            </a:r>
            <a:r>
              <a:rPr lang="es-CO" sz="1200" noProof="0" dirty="0">
                <a:latin typeface="Arial" panose="020B0604020202020204" pitchFamily="34" charset="0"/>
                <a:cs typeface="Arial" panose="020B0604020202020204" pitchFamily="34" charset="0"/>
              </a:rPr>
              <a:t> es que, al generarse ese aumento, provoca que para una medida de 1.6 </a:t>
            </a:r>
            <a:r>
              <a:rPr lang="es-CO" sz="1200" noProof="0" dirty="0" err="1">
                <a:latin typeface="Arial" panose="020B0604020202020204" pitchFamily="34" charset="0"/>
                <a:cs typeface="Arial" panose="020B0604020202020204" pitchFamily="34" charset="0"/>
              </a:rPr>
              <a:t>um</a:t>
            </a:r>
            <a:r>
              <a:rPr lang="es-CO" sz="1200" noProof="0" dirty="0">
                <a:latin typeface="Arial" panose="020B0604020202020204" pitchFamily="34" charset="0"/>
                <a:cs typeface="Arial" panose="020B0604020202020204" pitchFamily="34" charset="0"/>
              </a:rPr>
              <a:t> de ancho se empiecen a propagar otros modos, en este caso el modo 2 que es TE, y lo que nos muestra es que a medida que ensanchemos la </a:t>
            </a:r>
            <a:r>
              <a:rPr lang="es-CO" sz="1200" noProof="0" dirty="0" err="1">
                <a:latin typeface="Arial" panose="020B0604020202020204" pitchFamily="34" charset="0"/>
                <a:cs typeface="Arial" panose="020B0604020202020204" pitchFamily="34" charset="0"/>
              </a:rPr>
              <a:t>seccion</a:t>
            </a:r>
            <a:r>
              <a:rPr lang="es-CO" sz="1200" noProof="0" dirty="0">
                <a:latin typeface="Arial" panose="020B0604020202020204" pitchFamily="34" charset="0"/>
                <a:cs typeface="Arial" panose="020B0604020202020204" pitchFamily="34" charset="0"/>
              </a:rPr>
              <a:t> transversal, más modos se observarán, estos empezarán a viajar por el </a:t>
            </a:r>
            <a:r>
              <a:rPr lang="es-CO" sz="1200" noProof="0" dirty="0" err="1">
                <a:latin typeface="Arial" panose="020B0604020202020204" pitchFamily="34" charset="0"/>
                <a:cs typeface="Arial" panose="020B0604020202020204" pitchFamily="34" charset="0"/>
              </a:rPr>
              <a:t>cladding</a:t>
            </a:r>
            <a:r>
              <a:rPr lang="es-CO" sz="1200" noProof="0" dirty="0">
                <a:latin typeface="Arial" panose="020B0604020202020204" pitchFamily="34" charset="0"/>
                <a:cs typeface="Arial" panose="020B0604020202020204" pitchFamily="34" charset="0"/>
              </a:rPr>
              <a:t> es decir </a:t>
            </a:r>
            <a:r>
              <a:rPr lang="es-CO" sz="1200" noProof="0" dirty="0" err="1">
                <a:latin typeface="Arial" panose="020B0604020202020204" pitchFamily="34" charset="0"/>
                <a:cs typeface="Arial" panose="020B0604020202020204" pitchFamily="34" charset="0"/>
              </a:rPr>
              <a:t>estaran</a:t>
            </a:r>
            <a:r>
              <a:rPr lang="es-CO" sz="1200" noProof="0" dirty="0">
                <a:latin typeface="Arial" panose="020B0604020202020204" pitchFamily="34" charset="0"/>
                <a:cs typeface="Arial" panose="020B0604020202020204" pitchFamily="34" charset="0"/>
              </a:rPr>
              <a:t> menos confinados y luego a medida que se siga aumentando la sección transversal viajarán más </a:t>
            </a:r>
            <a:r>
              <a:rPr lang="es-CO" sz="1200" noProof="0" dirty="0" err="1">
                <a:latin typeface="Arial" panose="020B0604020202020204" pitchFamily="34" charset="0"/>
                <a:cs typeface="Arial" panose="020B0604020202020204" pitchFamily="34" charset="0"/>
              </a:rPr>
              <a:t>cconfinados</a:t>
            </a:r>
            <a:r>
              <a:rPr lang="es-CO" sz="1200" noProof="0" dirty="0">
                <a:latin typeface="Arial" panose="020B0604020202020204" pitchFamily="34" charset="0"/>
                <a:cs typeface="Arial" panose="020B0604020202020204" pitchFamily="34" charset="0"/>
              </a:rPr>
              <a:t>, sin embargo vemos que no se propagaran muy confinados debido a que la diferencia entre los </a:t>
            </a:r>
            <a:r>
              <a:rPr lang="es-CO" sz="1200" noProof="0" dirty="0" err="1">
                <a:latin typeface="Arial" panose="020B0604020202020204" pitchFamily="34" charset="0"/>
                <a:cs typeface="Arial" panose="020B0604020202020204" pitchFamily="34" charset="0"/>
              </a:rPr>
              <a:t>indices</a:t>
            </a:r>
            <a:r>
              <a:rPr lang="es-CO" sz="1200" noProof="0" dirty="0">
                <a:latin typeface="Arial" panose="020B0604020202020204" pitchFamily="34" charset="0"/>
                <a:cs typeface="Arial" panose="020B0604020202020204" pitchFamily="34" charset="0"/>
              </a:rPr>
              <a:t> no es la suficiente como para que se </a:t>
            </a:r>
            <a:r>
              <a:rPr lang="es-CO" sz="1200" noProof="0" dirty="0" err="1">
                <a:latin typeface="Arial" panose="020B0604020202020204" pitchFamily="34" charset="0"/>
                <a:cs typeface="Arial" panose="020B0604020202020204" pitchFamily="34" charset="0"/>
              </a:rPr>
              <a:t>propage</a:t>
            </a:r>
            <a:r>
              <a:rPr lang="es-CO" sz="1200" noProof="0" dirty="0">
                <a:latin typeface="Arial" panose="020B0604020202020204" pitchFamily="34" charset="0"/>
                <a:cs typeface="Arial" panose="020B0604020202020204" pitchFamily="34" charset="0"/>
              </a:rPr>
              <a:t> por el </a:t>
            </a:r>
            <a:r>
              <a:rPr lang="es-CO" sz="1200" noProof="0" dirty="0" err="1">
                <a:latin typeface="Arial" panose="020B0604020202020204" pitchFamily="34" charset="0"/>
                <a:cs typeface="Arial" panose="020B0604020202020204" pitchFamily="34" charset="0"/>
              </a:rPr>
              <a:t>core</a:t>
            </a:r>
            <a:r>
              <a:rPr lang="es-CO" sz="1200" noProof="0" dirty="0">
                <a:latin typeface="Arial" panose="020B0604020202020204" pitchFamily="34" charset="0"/>
                <a:cs typeface="Arial" panose="020B0604020202020204" pitchFamily="34" charset="0"/>
              </a:rPr>
              <a:t>. </a:t>
            </a: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2843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s-CO" b="1" noProof="0" dirty="0" err="1"/>
              <a:t>deep</a:t>
            </a:r>
            <a:r>
              <a:rPr lang="es-CO" noProof="0" dirty="0"/>
              <a:t> </a:t>
            </a:r>
            <a:r>
              <a:rPr lang="es-CO" noProof="0" dirty="0" err="1"/>
              <a:t>waveguide</a:t>
            </a:r>
            <a:endParaRPr lang="es-CO" noProof="0" dirty="0"/>
          </a:p>
          <a:p>
            <a:pPr algn="ctr"/>
            <a:endParaRPr lang="es-CO" noProof="0" dirty="0"/>
          </a:p>
          <a:p>
            <a:pPr algn="ctr"/>
            <a:r>
              <a:rPr lang="es-CO" noProof="0" dirty="0"/>
              <a:t>Paste </a:t>
            </a:r>
            <a:r>
              <a:rPr lang="es-CO" noProof="0" dirty="0" err="1"/>
              <a:t>plot</a:t>
            </a:r>
            <a:r>
              <a:rPr lang="es-CO" noProof="0" dirty="0"/>
              <a:t> </a:t>
            </a:r>
            <a:r>
              <a:rPr lang="es-CO" noProof="0" dirty="0" err="1"/>
              <a:t>here</a:t>
            </a:r>
            <a:endParaRPr lang="es-CO" noProof="0" dirty="0"/>
          </a:p>
        </p:txBody>
      </p:sp>
      <p:pic>
        <p:nvPicPr>
          <p:cNvPr id="9" name="Imagen 8" descr="Gráfico, Gráfico de líneas&#10;&#10;El contenido generado por IA puede ser incorrecto.">
            <a:extLst>
              <a:ext uri="{FF2B5EF4-FFF2-40B4-BE49-F238E27FC236}">
                <a16:creationId xmlns:a16="http://schemas.microsoft.com/office/drawing/2014/main" id="{AF9D2DA8-18A5-1B1F-B7B3-D07D9BD9B16D}"/>
              </a:ext>
            </a:extLst>
          </p:cNvPr>
          <p:cNvPicPr>
            <a:picLocks noChangeAspect="1"/>
          </p:cNvPicPr>
          <p:nvPr/>
        </p:nvPicPr>
        <p:blipFill>
          <a:blip r:embed="rId5"/>
          <a:stretch>
            <a:fillRect/>
          </a:stretch>
        </p:blipFill>
        <p:spPr>
          <a:xfrm>
            <a:off x="3352800" y="1524000"/>
            <a:ext cx="5295900" cy="3082970"/>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FDE26-0831-AE14-A0A4-8A79E15035E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FF0576C-921C-E6F0-0DE7-4696498D311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s-CO" sz="2500" noProof="0" dirty="0" err="1"/>
              <a:t>Learning</a:t>
            </a:r>
            <a:r>
              <a:rPr lang="es-CO" sz="2500" noProof="0" dirty="0"/>
              <a:t> </a:t>
            </a:r>
            <a:r>
              <a:rPr lang="es-CO" sz="2500" noProof="0" dirty="0" err="1"/>
              <a:t>outcome</a:t>
            </a:r>
            <a:r>
              <a:rPr lang="es-CO" sz="2500" noProof="0" dirty="0"/>
              <a:t> #2 – </a:t>
            </a:r>
            <a:r>
              <a:rPr lang="es-CO" sz="2500" noProof="0" dirty="0" err="1"/>
              <a:t>Width</a:t>
            </a:r>
            <a:r>
              <a:rPr lang="es-CO" sz="2500" noProof="0" dirty="0"/>
              <a:t> </a:t>
            </a:r>
            <a:r>
              <a:rPr lang="es-CO" sz="2500" noProof="0" dirty="0" err="1"/>
              <a:t>dependence</a:t>
            </a:r>
            <a:br>
              <a:rPr lang="es-CO" sz="2500" spc="-5" noProof="0" dirty="0">
                <a:latin typeface="+mj-lt"/>
                <a:cs typeface="Lucida Sans"/>
              </a:rPr>
            </a:br>
            <a:r>
              <a:rPr lang="es-CO" b="0" noProof="0" dirty="0" err="1"/>
              <a:t>Width</a:t>
            </a:r>
            <a:r>
              <a:rPr lang="es-CO" b="0" noProof="0" dirty="0"/>
              <a:t> 0.3 - 1 µm (step 0.1 µm) – </a:t>
            </a:r>
            <a:r>
              <a:rPr lang="es-CO" b="0" noProof="0" dirty="0" err="1"/>
              <a:t>Wavelength</a:t>
            </a:r>
            <a:r>
              <a:rPr lang="es-CO" b="0" noProof="0" dirty="0"/>
              <a:t> 1.55 µm – Silicon </a:t>
            </a:r>
            <a:r>
              <a:rPr lang="es-CO" b="0" noProof="0" dirty="0" err="1"/>
              <a:t>On</a:t>
            </a:r>
            <a:r>
              <a:rPr lang="es-CO" b="0" noProof="0" dirty="0"/>
              <a:t> </a:t>
            </a:r>
            <a:r>
              <a:rPr lang="es-CO" b="0" noProof="0" dirty="0" err="1"/>
              <a:t>Insulator</a:t>
            </a: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BDC69D14-8D7A-18EE-2BAF-3B3B9B0B26B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81E96DC-A7EE-87DF-BA93-E9B116B97194}"/>
              </a:ext>
            </a:extLst>
          </p:cNvPr>
          <p:cNvSpPr>
            <a:spLocks noGrp="1"/>
          </p:cNvSpPr>
          <p:nvPr>
            <p:ph type="sldNum" sz="quarter" idx="7"/>
          </p:nvPr>
        </p:nvSpPr>
        <p:spPr/>
        <p:txBody>
          <a:bodyPr/>
          <a:lstStyle/>
          <a:p>
            <a:fld id="{B6F15528-21DE-4FAA-801E-634DDDAF4B2B}" type="slidenum">
              <a:rPr lang="es-CO" noProof="0" smtClean="0"/>
              <a:t>6</a:t>
            </a:fld>
            <a:endParaRPr lang="es-CO" noProof="0" dirty="0"/>
          </a:p>
        </p:txBody>
      </p:sp>
      <p:sp>
        <p:nvSpPr>
          <p:cNvPr id="3" name="Marcador de pie de página 2">
            <a:extLst>
              <a:ext uri="{FF2B5EF4-FFF2-40B4-BE49-F238E27FC236}">
                <a16:creationId xmlns:a16="http://schemas.microsoft.com/office/drawing/2014/main" id="{5CC879E4-F8D5-CF29-86C4-18251D06548E}"/>
              </a:ext>
            </a:extLst>
          </p:cNvPr>
          <p:cNvSpPr>
            <a:spLocks noGrp="1"/>
          </p:cNvSpPr>
          <p:nvPr>
            <p:ph type="ftr" sz="quarter" idx="5"/>
          </p:nvPr>
        </p:nvSpPr>
        <p:spPr/>
        <p:txBody>
          <a:bodyPr/>
          <a:lstStyle/>
          <a:p>
            <a:pPr marL="12700">
              <a:spcBef>
                <a:spcPts val="15"/>
              </a:spcBef>
            </a:pPr>
            <a:r>
              <a:rPr lang="es-CO" spc="-5" noProof="0" dirty="0"/>
              <a:t>LAB 0.1. MODESOLVER</a:t>
            </a:r>
          </a:p>
        </p:txBody>
      </p:sp>
      <p:sp>
        <p:nvSpPr>
          <p:cNvPr id="2" name="CuadroTexto 1">
            <a:extLst>
              <a:ext uri="{FF2B5EF4-FFF2-40B4-BE49-F238E27FC236}">
                <a16:creationId xmlns:a16="http://schemas.microsoft.com/office/drawing/2014/main" id="{DE977BA9-63D1-A3AC-3821-011EF304D0A2}"/>
              </a:ext>
            </a:extLst>
          </p:cNvPr>
          <p:cNvSpPr txBox="1"/>
          <p:nvPr/>
        </p:nvSpPr>
        <p:spPr>
          <a:xfrm>
            <a:off x="609441" y="4538008"/>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CO" sz="1200" noProof="0" dirty="0">
                <a:latin typeface="Arial" panose="020B0604020202020204" pitchFamily="34" charset="0"/>
                <a:cs typeface="Arial" panose="020B0604020202020204" pitchFamily="34" charset="0"/>
              </a:rPr>
              <a:t>Se observa que con esta tecnología, cuando se aumenta el ancho de la guía de onda se propagan modos más rápidamente, pues mientras que </a:t>
            </a:r>
            <a:r>
              <a:rPr lang="es-CO" sz="1200" noProof="0" dirty="0" err="1">
                <a:latin typeface="Arial" panose="020B0604020202020204" pitchFamily="34" charset="0"/>
                <a:cs typeface="Arial" panose="020B0604020202020204" pitchFamily="34" charset="0"/>
              </a:rPr>
              <a:t>SiNx</a:t>
            </a:r>
            <a:r>
              <a:rPr lang="es-CO" sz="1200" noProof="0" dirty="0">
                <a:latin typeface="Arial" panose="020B0604020202020204" pitchFamily="34" charset="0"/>
                <a:cs typeface="Arial" panose="020B0604020202020204" pitchFamily="34" charset="0"/>
              </a:rPr>
              <a:t> después de aumentar 0.7 </a:t>
            </a:r>
            <a:r>
              <a:rPr lang="es-CO" sz="1200" noProof="0" dirty="0" err="1">
                <a:latin typeface="Arial" panose="020B0604020202020204" pitchFamily="34" charset="0"/>
                <a:cs typeface="Arial" panose="020B0604020202020204" pitchFamily="34" charset="0"/>
              </a:rPr>
              <a:t>um</a:t>
            </a:r>
            <a:r>
              <a:rPr lang="es-CO" sz="1200" noProof="0" dirty="0">
                <a:latin typeface="Arial" panose="020B0604020202020204" pitchFamily="34" charset="0"/>
                <a:cs typeface="Arial" panose="020B0604020202020204" pitchFamily="34" charset="0"/>
              </a:rPr>
              <a:t> empezaba a propagarse un modo de orden superior, en SOI después de aumentar 0.2 </a:t>
            </a:r>
            <a:r>
              <a:rPr lang="es-CO" sz="1200" noProof="0" dirty="0" err="1">
                <a:latin typeface="Arial" panose="020B0604020202020204" pitchFamily="34" charset="0"/>
                <a:cs typeface="Arial" panose="020B0604020202020204" pitchFamily="34" charset="0"/>
              </a:rPr>
              <a:t>um</a:t>
            </a:r>
            <a:r>
              <a:rPr lang="es-CO" sz="1200" noProof="0" dirty="0">
                <a:latin typeface="Arial" panose="020B0604020202020204" pitchFamily="34" charset="0"/>
                <a:cs typeface="Arial" panose="020B0604020202020204" pitchFamily="34" charset="0"/>
              </a:rPr>
              <a:t> ya se propagan modos de orden superior, esto se debe tener muy en cuenta a la hora de fabricar, ya que si queremos una guía monomodo en una polarización, podría estar más propensa a tener errores fabricarla con SOI. </a:t>
            </a:r>
          </a:p>
          <a:p>
            <a:pPr algn="just"/>
            <a:r>
              <a:rPr lang="es-CO" sz="1200" dirty="0">
                <a:latin typeface="Arial" panose="020B0604020202020204" pitchFamily="34" charset="0"/>
                <a:cs typeface="Arial" panose="020B0604020202020204" pitchFamily="34" charset="0"/>
              </a:rPr>
              <a:t>También, es importante resaltar que en SOI, vemos como hay conversión de polarización en los 0.7 </a:t>
            </a:r>
            <a:r>
              <a:rPr lang="es-CO" sz="1200" dirty="0" err="1">
                <a:latin typeface="Arial" panose="020B0604020202020204" pitchFamily="34" charset="0"/>
                <a:cs typeface="Arial" panose="020B0604020202020204" pitchFamily="34" charset="0"/>
              </a:rPr>
              <a:t>um</a:t>
            </a:r>
            <a:r>
              <a:rPr lang="es-CO" sz="1200" dirty="0">
                <a:latin typeface="Arial" panose="020B0604020202020204" pitchFamily="34" charset="0"/>
                <a:cs typeface="Arial" panose="020B0604020202020204" pitchFamily="34" charset="0"/>
              </a:rPr>
              <a:t> de </a:t>
            </a:r>
            <a:r>
              <a:rPr lang="es-CO" sz="1200" dirty="0" err="1">
                <a:latin typeface="Arial" panose="020B0604020202020204" pitchFamily="34" charset="0"/>
                <a:cs typeface="Arial" panose="020B0604020202020204" pitchFamily="34" charset="0"/>
              </a:rPr>
              <a:t>width</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endonde</a:t>
            </a:r>
            <a:r>
              <a:rPr lang="es-CO" sz="1200" dirty="0">
                <a:latin typeface="Arial" panose="020B0604020202020204" pitchFamily="34" charset="0"/>
                <a:cs typeface="Arial" panose="020B0604020202020204" pitchFamily="34" charset="0"/>
              </a:rPr>
              <a:t> el modo 1 pasa de polarización magnética a eléctrica, esto también ocurre para modos superiores en los que pasan de una a otra. </a:t>
            </a:r>
            <a:endParaRPr lang="es-CO" sz="1200" noProof="0" dirty="0">
              <a:latin typeface="Arial" panose="020B0604020202020204" pitchFamily="34" charset="0"/>
              <a:cs typeface="Arial" panose="020B0604020202020204" pitchFamily="34" charset="0"/>
            </a:endParaRPr>
          </a:p>
          <a:p>
            <a:pPr algn="just"/>
            <a:r>
              <a:rPr lang="es-CO" sz="1200" dirty="0">
                <a:latin typeface="Arial" panose="020B0604020202020204" pitchFamily="34" charset="0"/>
                <a:cs typeface="Arial" panose="020B0604020202020204" pitchFamily="34" charset="0"/>
              </a:rPr>
              <a:t>El índice efectivo del modo 0 pasa de 1.79 a 2.72, teniendo una diferencia de 0.93, por lo que el aumentar el ancho de la fibra hace que los modos se confinen mucho más. Si lo comparamos con el </a:t>
            </a:r>
            <a:r>
              <a:rPr lang="es-CO" sz="1200" dirty="0" err="1">
                <a:latin typeface="Arial" panose="020B0604020202020204" pitchFamily="34" charset="0"/>
                <a:cs typeface="Arial" panose="020B0604020202020204" pitchFamily="34" charset="0"/>
              </a:rPr>
              <a:t>SiNx</a:t>
            </a:r>
            <a:r>
              <a:rPr lang="es-CO" sz="1200" dirty="0">
                <a:latin typeface="Arial" panose="020B0604020202020204" pitchFamily="34" charset="0"/>
                <a:cs typeface="Arial" panose="020B0604020202020204" pitchFamily="34" charset="0"/>
              </a:rPr>
              <a:t> que tuvo un crecimiento para el modo 0 de 0.121, notamos que es 7.68 veces más, esto tiene que ver con la diferencia entre los índices de refracción del </a:t>
            </a:r>
            <a:r>
              <a:rPr lang="es-CO" sz="1200" dirty="0" err="1">
                <a:latin typeface="Arial" panose="020B0604020202020204" pitchFamily="34" charset="0"/>
                <a:cs typeface="Arial" panose="020B0604020202020204" pitchFamily="34" charset="0"/>
              </a:rPr>
              <a:t>cladding</a:t>
            </a:r>
            <a:r>
              <a:rPr lang="es-CO" sz="1200" dirty="0">
                <a:latin typeface="Arial" panose="020B0604020202020204" pitchFamily="34" charset="0"/>
                <a:cs typeface="Arial" panose="020B0604020202020204" pitchFamily="34" charset="0"/>
              </a:rPr>
              <a:t> y del </a:t>
            </a:r>
            <a:r>
              <a:rPr lang="es-CO" sz="1200" dirty="0" err="1">
                <a:latin typeface="Arial" panose="020B0604020202020204" pitchFamily="34" charset="0"/>
                <a:cs typeface="Arial" panose="020B0604020202020204" pitchFamily="34" charset="0"/>
              </a:rPr>
              <a:t>core</a:t>
            </a:r>
            <a:r>
              <a:rPr lang="es-CO" sz="1200" dirty="0">
                <a:latin typeface="Arial" panose="020B0604020202020204" pitchFamily="34" charset="0"/>
                <a:cs typeface="Arial" panose="020B0604020202020204" pitchFamily="34" charset="0"/>
              </a:rPr>
              <a:t>, ya que en SOI ese contraste es mucho más grande, lo que a su vez le permite confinar más los modos. </a:t>
            </a:r>
            <a:endParaRPr lang="es-CO" sz="1200" noProof="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4966147-56E4-AF36-B4E5-D67DCD6AB9A3}"/>
              </a:ext>
            </a:extLst>
          </p:cNvPr>
          <p:cNvSpPr/>
          <p:nvPr/>
        </p:nvSpPr>
        <p:spPr>
          <a:xfrm>
            <a:off x="609441" y="1295400"/>
            <a:ext cx="11199971" cy="32843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sp>
        <p:nvSpPr>
          <p:cNvPr id="8" name="CuadroTexto 7">
            <a:extLst>
              <a:ext uri="{FF2B5EF4-FFF2-40B4-BE49-F238E27FC236}">
                <a16:creationId xmlns:a16="http://schemas.microsoft.com/office/drawing/2014/main" id="{6A634A27-6B4B-7FF3-3617-F7496A83A668}"/>
              </a:ext>
            </a:extLst>
          </p:cNvPr>
          <p:cNvSpPr txBox="1"/>
          <p:nvPr/>
        </p:nvSpPr>
        <p:spPr>
          <a:xfrm>
            <a:off x="2286000" y="2671278"/>
            <a:ext cx="7718580" cy="923330"/>
          </a:xfrm>
          <a:prstGeom prst="rect">
            <a:avLst/>
          </a:prstGeom>
          <a:noFill/>
        </p:spPr>
        <p:txBody>
          <a:bodyPr wrap="square" rtlCol="0">
            <a:spAutoFit/>
          </a:bodyPr>
          <a:lstStyle/>
          <a:p>
            <a:pPr algn="ctr"/>
            <a:r>
              <a:rPr lang="es-CO" b="1" noProof="0" dirty="0" err="1"/>
              <a:t>deep</a:t>
            </a:r>
            <a:r>
              <a:rPr lang="es-CO" noProof="0" dirty="0"/>
              <a:t> </a:t>
            </a:r>
            <a:r>
              <a:rPr lang="es-CO" noProof="0" dirty="0" err="1"/>
              <a:t>waveguide</a:t>
            </a:r>
            <a:endParaRPr lang="es-CO" noProof="0" dirty="0"/>
          </a:p>
          <a:p>
            <a:pPr algn="ctr"/>
            <a:endParaRPr lang="es-CO" noProof="0" dirty="0"/>
          </a:p>
          <a:p>
            <a:pPr algn="ctr"/>
            <a:r>
              <a:rPr lang="es-CO" noProof="0" dirty="0"/>
              <a:t>Paste </a:t>
            </a:r>
            <a:r>
              <a:rPr lang="es-CO" noProof="0" dirty="0" err="1"/>
              <a:t>plot</a:t>
            </a:r>
            <a:r>
              <a:rPr lang="es-CO" noProof="0" dirty="0"/>
              <a:t> </a:t>
            </a:r>
            <a:r>
              <a:rPr lang="es-CO" noProof="0" dirty="0" err="1"/>
              <a:t>here</a:t>
            </a:r>
            <a:endParaRPr lang="es-CO" noProof="0" dirty="0"/>
          </a:p>
        </p:txBody>
      </p:sp>
      <p:pic>
        <p:nvPicPr>
          <p:cNvPr id="5" name="Imagen 4">
            <a:extLst>
              <a:ext uri="{FF2B5EF4-FFF2-40B4-BE49-F238E27FC236}">
                <a16:creationId xmlns:a16="http://schemas.microsoft.com/office/drawing/2014/main" id="{81876288-F10C-8879-8A29-A48857CD2936}"/>
              </a:ext>
            </a:extLst>
          </p:cNvPr>
          <p:cNvPicPr>
            <a:picLocks noChangeAspect="1"/>
          </p:cNvPicPr>
          <p:nvPr/>
        </p:nvPicPr>
        <p:blipFill>
          <a:blip r:embed="rId5"/>
          <a:stretch>
            <a:fillRect/>
          </a:stretch>
        </p:blipFill>
        <p:spPr>
          <a:xfrm>
            <a:off x="3562653" y="1396779"/>
            <a:ext cx="5293546" cy="3081600"/>
          </a:xfrm>
          <a:prstGeom prst="rect">
            <a:avLst/>
          </a:prstGeom>
        </p:spPr>
      </p:pic>
    </p:spTree>
    <p:extLst>
      <p:ext uri="{BB962C8B-B14F-4D97-AF65-F5344CB8AC3E}">
        <p14:creationId xmlns:p14="http://schemas.microsoft.com/office/powerpoint/2010/main" val="32087667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152400"/>
                <a:ext cx="10994410" cy="1071255"/>
              </a:xfrm>
              <a:prstGeom prst="rect">
                <a:avLst/>
              </a:prstGeom>
            </p:spPr>
            <p:txBody>
              <a:bodyPr vert="horz" wrap="square" lIns="0" tIns="12700" rIns="0" bIns="0" rtlCol="0">
                <a:spAutoFit/>
              </a:bodyPr>
              <a:lstStyle/>
              <a:p>
                <a:pPr marL="12700">
                  <a:lnSpc>
                    <a:spcPct val="100000"/>
                  </a:lnSpc>
                  <a:spcBef>
                    <a:spcPts val="100"/>
                  </a:spcBef>
                </a:pPr>
                <a:r>
                  <a:rPr lang="es-CO" sz="2500" noProof="0" dirty="0" err="1"/>
                  <a:t>Learning</a:t>
                </a:r>
                <a:r>
                  <a:rPr lang="es-CO" sz="2500" noProof="0" dirty="0"/>
                  <a:t> </a:t>
                </a:r>
                <a:r>
                  <a:rPr lang="es-CO" sz="2500" noProof="0" dirty="0" err="1"/>
                  <a:t>outcome</a:t>
                </a:r>
                <a:r>
                  <a:rPr lang="es-CO" sz="2500" noProof="0" dirty="0"/>
                  <a:t> #3 – </a:t>
                </a:r>
                <a:r>
                  <a:rPr lang="es-CO" sz="2500" noProof="0" dirty="0" err="1"/>
                  <a:t>Waveguide</a:t>
                </a:r>
                <a:r>
                  <a:rPr lang="es-CO" sz="2500" noProof="0" dirty="0"/>
                  <a:t> compact </a:t>
                </a:r>
                <a:r>
                  <a:rPr lang="es-CO" sz="2500" noProof="0" dirty="0" err="1"/>
                  <a:t>model</a:t>
                </a:r>
                <a:br>
                  <a:rPr lang="es-CO" sz="2500" spc="-5" noProof="0" dirty="0">
                    <a:latin typeface="+mj-lt"/>
                    <a:cs typeface="Lucida Sans"/>
                  </a:rPr>
                </a:br>
                <a:r>
                  <a:rPr lang="es-CO" b="0" noProof="0" dirty="0" err="1"/>
                  <a:t>Let’s</a:t>
                </a:r>
                <a:r>
                  <a:rPr lang="es-CO" b="0" noProof="0" dirty="0"/>
                  <a:t> </a:t>
                </a:r>
                <a:r>
                  <a:rPr lang="es-CO" b="0" noProof="0" dirty="0" err="1"/>
                  <a:t>model</a:t>
                </a:r>
                <a:r>
                  <a:rPr lang="es-CO" b="0" noProof="0" dirty="0"/>
                  <a:t> the </a:t>
                </a:r>
                <a:r>
                  <a:rPr lang="es-CO" b="0" noProof="0" dirty="0" err="1"/>
                  <a:t>waveguide</a:t>
                </a:r>
                <a:r>
                  <a:rPr lang="es-CO" b="0" noProof="0" dirty="0"/>
                  <a:t> </a:t>
                </a:r>
                <a:r>
                  <a:rPr lang="es-CO" b="0" noProof="0" dirty="0" err="1"/>
                  <a:t>using</a:t>
                </a:r>
                <a:r>
                  <a:rPr lang="es-CO" b="0" noProof="0" dirty="0"/>
                  <a:t> a </a:t>
                </a:r>
                <a:r>
                  <a:rPr lang="es-CO" b="0" noProof="0" dirty="0" err="1"/>
                  <a:t>second</a:t>
                </a:r>
                <a:r>
                  <a:rPr lang="es-CO" b="0" noProof="0" dirty="0"/>
                  <a:t> </a:t>
                </a:r>
                <a:r>
                  <a:rPr lang="es-CO" b="0" noProof="0" dirty="0" err="1"/>
                  <a:t>order</a:t>
                </a:r>
                <a:r>
                  <a:rPr lang="es-CO" b="0" noProof="0" dirty="0"/>
                  <a:t> </a:t>
                </a:r>
                <a:r>
                  <a:rPr lang="es-CO" b="0" noProof="0" dirty="0" err="1"/>
                  <a:t>polynomial</a:t>
                </a:r>
                <a:r>
                  <a:rPr lang="es-CO" b="0" noProof="0" dirty="0"/>
                  <a:t>: </a:t>
                </a:r>
                <a:br>
                  <a:rPr lang="es-CO" b="0" noProof="0" dirty="0"/>
                </a:br>
                <a14:m>
                  <m:oMathPara xmlns:m="http://schemas.openxmlformats.org/officeDocument/2006/math">
                    <m:oMathParaPr>
                      <m:jc m:val="centerGroup"/>
                    </m:oMathParaPr>
                    <m:oMath xmlns:m="http://schemas.openxmlformats.org/officeDocument/2006/math">
                      <m:sSub>
                        <m:sSubPr>
                          <m:ctrlPr>
                            <a:rPr lang="es-CO" b="0" i="1" noProof="0" smtClean="0">
                              <a:latin typeface="Cambria Math" panose="02040503050406030204" pitchFamily="18" charset="0"/>
                            </a:rPr>
                          </m:ctrlPr>
                        </m:sSubPr>
                        <m:e>
                          <m:r>
                            <a:rPr lang="es-CO" b="0" i="1" noProof="0" smtClean="0">
                              <a:latin typeface="Cambria Math" panose="02040503050406030204" pitchFamily="18" charset="0"/>
                            </a:rPr>
                            <m:t>𝑛</m:t>
                          </m:r>
                        </m:e>
                        <m:sub>
                          <m:r>
                            <a:rPr lang="es-CO" b="0" i="1" noProof="0" smtClean="0">
                              <a:latin typeface="Cambria Math" panose="02040503050406030204" pitchFamily="18" charset="0"/>
                            </a:rPr>
                            <m:t>𝑒𝑓𝑓</m:t>
                          </m:r>
                        </m:sub>
                      </m:sSub>
                      <m:d>
                        <m:dPr>
                          <m:ctrlPr>
                            <a:rPr lang="es-CO" b="0" i="1" noProof="0" smtClean="0">
                              <a:latin typeface="Cambria Math" panose="02040503050406030204" pitchFamily="18" charset="0"/>
                            </a:rPr>
                          </m:ctrlPr>
                        </m:dPr>
                        <m:e>
                          <m:r>
                            <a:rPr lang="es-CO" b="0" i="1" noProof="0" smtClean="0">
                              <a:latin typeface="Cambria Math" panose="02040503050406030204" pitchFamily="18" charset="0"/>
                            </a:rPr>
                            <m:t>𝜆</m:t>
                          </m:r>
                        </m:e>
                      </m:d>
                      <m:r>
                        <a:rPr lang="es-CO" b="0" i="1" noProof="0" smtClean="0">
                          <a:latin typeface="Cambria Math" panose="02040503050406030204" pitchFamily="18" charset="0"/>
                        </a:rPr>
                        <m:t>=</m:t>
                      </m:r>
                      <m:sSub>
                        <m:sSubPr>
                          <m:ctrlPr>
                            <a:rPr lang="es-CO" b="0" i="1" noProof="0" smtClean="0">
                              <a:latin typeface="Cambria Math" panose="02040503050406030204" pitchFamily="18" charset="0"/>
                            </a:rPr>
                          </m:ctrlPr>
                        </m:sSubPr>
                        <m:e>
                          <m:r>
                            <a:rPr lang="es-CO" b="0" i="1" noProof="0" smtClean="0">
                              <a:latin typeface="Cambria Math" panose="02040503050406030204" pitchFamily="18" charset="0"/>
                            </a:rPr>
                            <m:t>𝑛</m:t>
                          </m:r>
                        </m:e>
                        <m:sub>
                          <m:r>
                            <a:rPr lang="es-CO" b="0" i="1" noProof="0" smtClean="0">
                              <a:latin typeface="Cambria Math" panose="02040503050406030204" pitchFamily="18" charset="0"/>
                            </a:rPr>
                            <m:t>1</m:t>
                          </m:r>
                        </m:sub>
                      </m:sSub>
                      <m:r>
                        <a:rPr lang="es-CO" b="0" i="1" noProof="0" smtClean="0">
                          <a:latin typeface="Cambria Math" panose="02040503050406030204" pitchFamily="18" charset="0"/>
                        </a:rPr>
                        <m:t>+</m:t>
                      </m:r>
                      <m:sSub>
                        <m:sSubPr>
                          <m:ctrlPr>
                            <a:rPr lang="es-CO" b="0" i="1" noProof="0" smtClean="0">
                              <a:latin typeface="Cambria Math" panose="02040503050406030204" pitchFamily="18" charset="0"/>
                            </a:rPr>
                          </m:ctrlPr>
                        </m:sSubPr>
                        <m:e>
                          <m:r>
                            <a:rPr lang="es-CO" b="0" i="1" noProof="0" smtClean="0">
                              <a:latin typeface="Cambria Math" panose="02040503050406030204" pitchFamily="18" charset="0"/>
                            </a:rPr>
                            <m:t>𝑛</m:t>
                          </m:r>
                        </m:e>
                        <m:sub>
                          <m:r>
                            <a:rPr lang="es-CO" b="0" i="1" noProof="0" smtClean="0">
                              <a:latin typeface="Cambria Math" panose="02040503050406030204" pitchFamily="18" charset="0"/>
                            </a:rPr>
                            <m:t>2</m:t>
                          </m:r>
                        </m:sub>
                      </m:sSub>
                      <m:d>
                        <m:dPr>
                          <m:ctrlPr>
                            <a:rPr lang="es-CO" b="0" i="1" noProof="0" smtClean="0">
                              <a:latin typeface="Cambria Math" panose="02040503050406030204" pitchFamily="18" charset="0"/>
                            </a:rPr>
                          </m:ctrlPr>
                        </m:dPr>
                        <m:e>
                          <m:r>
                            <a:rPr lang="es-CO" b="0" i="1" noProof="0" smtClean="0">
                              <a:latin typeface="Cambria Math" panose="02040503050406030204" pitchFamily="18" charset="0"/>
                            </a:rPr>
                            <m:t>𝜆</m:t>
                          </m:r>
                          <m:r>
                            <a:rPr lang="es-CO" b="0" i="1" noProof="0" smtClean="0">
                              <a:latin typeface="Cambria Math" panose="02040503050406030204" pitchFamily="18" charset="0"/>
                            </a:rPr>
                            <m:t>−</m:t>
                          </m:r>
                          <m:sSub>
                            <m:sSubPr>
                              <m:ctrlPr>
                                <a:rPr lang="es-CO" b="0" i="1" noProof="0" smtClean="0">
                                  <a:latin typeface="Cambria Math" panose="02040503050406030204" pitchFamily="18" charset="0"/>
                                </a:rPr>
                              </m:ctrlPr>
                            </m:sSubPr>
                            <m:e>
                              <m:r>
                                <a:rPr lang="es-CO" b="0" i="1" noProof="0" smtClean="0">
                                  <a:latin typeface="Cambria Math" panose="02040503050406030204" pitchFamily="18" charset="0"/>
                                </a:rPr>
                                <m:t>𝜆</m:t>
                              </m:r>
                            </m:e>
                            <m:sub>
                              <m:r>
                                <a:rPr lang="es-CO" b="0" i="1" noProof="0" smtClean="0">
                                  <a:latin typeface="Cambria Math" panose="02040503050406030204" pitchFamily="18" charset="0"/>
                                </a:rPr>
                                <m:t>0</m:t>
                              </m:r>
                            </m:sub>
                          </m:sSub>
                        </m:e>
                      </m:d>
                      <m:r>
                        <a:rPr lang="es-CO" b="0" i="1" noProof="0" smtClean="0">
                          <a:latin typeface="Cambria Math" panose="02040503050406030204" pitchFamily="18" charset="0"/>
                        </a:rPr>
                        <m:t>+</m:t>
                      </m:r>
                      <m:sSub>
                        <m:sSubPr>
                          <m:ctrlPr>
                            <a:rPr lang="es-CO" b="0" i="1" noProof="0" smtClean="0">
                              <a:latin typeface="Cambria Math" panose="02040503050406030204" pitchFamily="18" charset="0"/>
                            </a:rPr>
                          </m:ctrlPr>
                        </m:sSubPr>
                        <m:e>
                          <m:r>
                            <a:rPr lang="es-CO" b="0" i="1" noProof="0" smtClean="0">
                              <a:latin typeface="Cambria Math" panose="02040503050406030204" pitchFamily="18" charset="0"/>
                            </a:rPr>
                            <m:t>𝑛</m:t>
                          </m:r>
                        </m:e>
                        <m:sub>
                          <m:r>
                            <a:rPr lang="es-CO" b="0" i="1" noProof="0" smtClean="0">
                              <a:latin typeface="Cambria Math" panose="02040503050406030204" pitchFamily="18" charset="0"/>
                            </a:rPr>
                            <m:t>3</m:t>
                          </m:r>
                        </m:sub>
                      </m:sSub>
                      <m:sSup>
                        <m:sSupPr>
                          <m:ctrlPr>
                            <a:rPr lang="es-CO" b="0" i="1" noProof="0" smtClean="0">
                              <a:latin typeface="Cambria Math" panose="02040503050406030204" pitchFamily="18" charset="0"/>
                            </a:rPr>
                          </m:ctrlPr>
                        </m:sSupPr>
                        <m:e>
                          <m:d>
                            <m:dPr>
                              <m:ctrlPr>
                                <a:rPr lang="es-CO" b="0" i="1" noProof="0" smtClean="0">
                                  <a:latin typeface="Cambria Math" panose="02040503050406030204" pitchFamily="18" charset="0"/>
                                </a:rPr>
                              </m:ctrlPr>
                            </m:dPr>
                            <m:e>
                              <m:r>
                                <a:rPr lang="es-CO" b="0" i="1" noProof="0" smtClean="0">
                                  <a:latin typeface="Cambria Math" panose="02040503050406030204" pitchFamily="18" charset="0"/>
                                </a:rPr>
                                <m:t>𝜆</m:t>
                              </m:r>
                              <m:r>
                                <a:rPr lang="es-CO" b="0" i="1" noProof="0" smtClean="0">
                                  <a:latin typeface="Cambria Math" panose="02040503050406030204" pitchFamily="18" charset="0"/>
                                </a:rPr>
                                <m:t>−</m:t>
                              </m:r>
                              <m:sSub>
                                <m:sSubPr>
                                  <m:ctrlPr>
                                    <a:rPr lang="es-CO" b="0" i="1" noProof="0" smtClean="0">
                                      <a:latin typeface="Cambria Math" panose="02040503050406030204" pitchFamily="18" charset="0"/>
                                    </a:rPr>
                                  </m:ctrlPr>
                                </m:sSubPr>
                                <m:e>
                                  <m:r>
                                    <a:rPr lang="es-CO" b="0" i="1" noProof="0" smtClean="0">
                                      <a:latin typeface="Cambria Math" panose="02040503050406030204" pitchFamily="18" charset="0"/>
                                    </a:rPr>
                                    <m:t>𝜆</m:t>
                                  </m:r>
                                </m:e>
                                <m:sub>
                                  <m:r>
                                    <a:rPr lang="es-CO" b="0" i="1" noProof="0" smtClean="0">
                                      <a:latin typeface="Cambria Math" panose="02040503050406030204" pitchFamily="18" charset="0"/>
                                    </a:rPr>
                                    <m:t>0</m:t>
                                  </m:r>
                                </m:sub>
                              </m:sSub>
                            </m:e>
                          </m:d>
                        </m:e>
                        <m:sup>
                          <m:r>
                            <a:rPr lang="es-CO" b="0" i="1" noProof="0" smtClean="0">
                              <a:latin typeface="Cambria Math" panose="02040503050406030204" pitchFamily="18" charset="0"/>
                            </a:rPr>
                            <m:t>2</m:t>
                          </m:r>
                        </m:sup>
                      </m:sSup>
                    </m:oMath>
                  </m:oMathPara>
                </a14:m>
                <a:br>
                  <a:rPr lang="es-CO" b="0" noProof="0" dirty="0"/>
                </a:br>
                <a:endParaRPr lang="es-CO" sz="2500" b="0" noProof="0" dirty="0">
                  <a:latin typeface="+mj-lt"/>
                  <a:cs typeface="Lucida Sans"/>
                </a:endParaRPr>
              </a:p>
            </p:txBody>
          </p:sp>
        </mc:Choice>
        <mc:Fallback xmlns="">
          <p:sp>
            <p:nvSpPr>
              <p:cNvPr id="16" name="object 16">
                <a:extLst>
                  <a:ext uri="{FF2B5EF4-FFF2-40B4-BE49-F238E27FC236}">
                    <a16:creationId xmlns:a16="http://schemas.microsoft.com/office/drawing/2014/main" id="{394400B4-EE16-8E85-AB54-E82FE3B29345}"/>
                  </a:ext>
                </a:extLst>
              </p:cNvPr>
              <p:cNvSpPr txBox="1">
                <a:spLocks noGrp="1" noRot="1" noChangeAspect="1" noMove="1" noResize="1" noEditPoints="1" noAdjustHandles="1" noChangeArrowheads="1" noChangeShapeType="1" noTextEdit="1"/>
              </p:cNvSpPr>
              <p:nvPr>
                <p:ph type="title"/>
              </p:nvPr>
            </p:nvSpPr>
            <p:spPr>
              <a:xfrm>
                <a:off x="685800" y="152400"/>
                <a:ext cx="10994410" cy="1071255"/>
              </a:xfrm>
              <a:prstGeom prst="rect">
                <a:avLst/>
              </a:prstGeom>
              <a:blipFill>
                <a:blip r:embed="rId3"/>
                <a:stretch>
                  <a:fillRect l="-1664" t="-7386" b="-4545"/>
                </a:stretch>
              </a:blipFill>
            </p:spPr>
            <p:txBody>
              <a:bodyPr/>
              <a:lstStyle/>
              <a:p>
                <a:r>
                  <a:rPr lang="es-CO">
                    <a:noFill/>
                  </a:rPr>
                  <a:t> </a:t>
                </a:r>
              </a:p>
            </p:txBody>
          </p:sp>
        </mc:Fallback>
      </mc:AlternateContent>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CO" noProof="0" smtClean="0"/>
              <a:t>7</a:t>
            </a:fld>
            <a:endParaRPr lang="es-CO" noProof="0" dirty="0"/>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CO" spc="-5" noProof="0" dirty="0"/>
              <a:t>LAB 1.0. WAVEGUIDES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141710"/>
                <a:ext cx="11198542" cy="4903586"/>
              </a:xfrm>
              <a:prstGeom prst="rect">
                <a:avLst/>
              </a:prstGeom>
              <a:solidFill>
                <a:schemeClr val="bg1">
                  <a:lumMod val="95000"/>
                </a:schemeClr>
              </a:solidFill>
              <a:ln w="28575">
                <a:solidFill>
                  <a:srgbClr val="E0700D"/>
                </a:solidFill>
              </a:ln>
            </p:spPr>
            <p:txBody>
              <a:bodyPr wrap="square" rtlCol="0">
                <a:spAutoFit/>
              </a:bodyPr>
              <a:lstStyle/>
              <a:p>
                <a:pPr algn="just"/>
                <a:r>
                  <a:rPr lang="es-CO" sz="1200" noProof="0" dirty="0">
                    <a:latin typeface="Arial" panose="020B0604020202020204" pitchFamily="34" charset="0"/>
                    <a:cs typeface="Arial" panose="020B0604020202020204" pitchFamily="34" charset="0"/>
                  </a:rPr>
                  <a:t>En las gráficas observamos como </a:t>
                </a:r>
                <a:r>
                  <a:rPr lang="es-CO" sz="1200" dirty="0" err="1">
                    <a:latin typeface="Arial" panose="020B0604020202020204" pitchFamily="34" charset="0"/>
                    <a:cs typeface="Arial" panose="020B0604020202020204" pitchFamily="34" charset="0"/>
                  </a:rPr>
                  <a:t>second-degree</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polynomial</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fit</a:t>
                </a:r>
                <a:r>
                  <a:rPr lang="es-CO" sz="1200" dirty="0">
                    <a:latin typeface="Arial" panose="020B0604020202020204" pitchFamily="34" charset="0"/>
                    <a:cs typeface="Arial" panose="020B0604020202020204" pitchFamily="34" charset="0"/>
                  </a:rPr>
                  <a:t> es una muy </a:t>
                </a:r>
                <a:r>
                  <a:rPr lang="es-CO" sz="1200" dirty="0" err="1">
                    <a:latin typeface="Arial" panose="020B0604020202020204" pitchFamily="34" charset="0"/>
                    <a:cs typeface="Arial" panose="020B0604020202020204" pitchFamily="34" charset="0"/>
                  </a:rPr>
                  <a:t>biena</a:t>
                </a:r>
                <a:r>
                  <a:rPr lang="es-CO" sz="1200" dirty="0">
                    <a:latin typeface="Arial" panose="020B0604020202020204" pitchFamily="34" charset="0"/>
                    <a:cs typeface="Arial" panose="020B0604020202020204" pitchFamily="34" charset="0"/>
                  </a:rPr>
                  <a:t> representación de los campos obtenidos en ambos casos. Con esta representación se obtuvieron los resultados presentados en la siguiente tabla:</a:t>
                </a:r>
              </a:p>
              <a:p>
                <a:pPr algn="just"/>
                <a:endParaRPr lang="es-CO" sz="120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r>
                  <a:rPr lang="es-CO" sz="1200" dirty="0">
                    <a:latin typeface="Arial" panose="020B0604020202020204" pitchFamily="34" charset="0"/>
                    <a:cs typeface="Arial" panose="020B0604020202020204" pitchFamily="34" charset="0"/>
                  </a:rPr>
                  <a:t>En el caso de la </a:t>
                </a:r>
                <a:r>
                  <a:rPr lang="es-CO" sz="1200" dirty="0" err="1">
                    <a:latin typeface="Arial" panose="020B0604020202020204" pitchFamily="34" charset="0"/>
                    <a:cs typeface="Arial" panose="020B0604020202020204" pitchFamily="34" charset="0"/>
                  </a:rPr>
                  <a:t>shallow</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waveguide</a:t>
                </a:r>
                <a:r>
                  <a:rPr lang="es-CO" sz="1200" dirty="0">
                    <a:latin typeface="Arial" panose="020B0604020202020204" pitchFamily="34" charset="0"/>
                    <a:cs typeface="Arial" panose="020B0604020202020204" pitchFamily="34" charset="0"/>
                  </a:rPr>
                  <a:t> los modos TE0 y TM0 están viajando más confinados a comparación de la Deep </a:t>
                </a:r>
                <a:r>
                  <a:rPr lang="es-CO" sz="1200" dirty="0" err="1">
                    <a:latin typeface="Arial" panose="020B0604020202020204" pitchFamily="34" charset="0"/>
                    <a:cs typeface="Arial" panose="020B0604020202020204" pitchFamily="34" charset="0"/>
                  </a:rPr>
                  <a:t>waveguide</a:t>
                </a:r>
                <a:r>
                  <a:rPr lang="es-CO" sz="1200" dirty="0">
                    <a:latin typeface="Arial" panose="020B0604020202020204" pitchFamily="34" charset="0"/>
                    <a:cs typeface="Arial" panose="020B0604020202020204" pitchFamily="34" charset="0"/>
                  </a:rPr>
                  <a:t>, esto es debido a que en la guía </a:t>
                </a:r>
                <a:r>
                  <a:rPr lang="es-CO" sz="1200" dirty="0" err="1">
                    <a:latin typeface="Arial" panose="020B0604020202020204" pitchFamily="34" charset="0"/>
                    <a:cs typeface="Arial" panose="020B0604020202020204" pitchFamily="34" charset="0"/>
                  </a:rPr>
                  <a:t>shallow</a:t>
                </a:r>
                <a:r>
                  <a:rPr lang="es-CO" sz="1200" dirty="0">
                    <a:latin typeface="Arial" panose="020B0604020202020204" pitchFamily="34" charset="0"/>
                    <a:cs typeface="Arial" panose="020B0604020202020204" pitchFamily="34" charset="0"/>
                  </a:rPr>
                  <a:t> pusimos un </a:t>
                </a:r>
                <a:r>
                  <a:rPr lang="es-CO" sz="1200" dirty="0" err="1">
                    <a:latin typeface="Arial" panose="020B0604020202020204" pitchFamily="34" charset="0"/>
                    <a:cs typeface="Arial" panose="020B0604020202020204" pitchFamily="34" charset="0"/>
                  </a:rPr>
                  <a:t>slab</a:t>
                </a:r>
                <a:r>
                  <a:rPr lang="es-CO" sz="1200" dirty="0">
                    <a:latin typeface="Arial" panose="020B0604020202020204" pitchFamily="34" charset="0"/>
                    <a:cs typeface="Arial" panose="020B0604020202020204" pitchFamily="34" charset="0"/>
                  </a:rPr>
                  <a:t> que logra capturar un poco más de energía del modo. Con respecto a los índices de grupo vemos que en la Deep wave guide se introduce un poco más de retardo que en la guía </a:t>
                </a:r>
                <a:r>
                  <a:rPr lang="es-CO" sz="1200" dirty="0" err="1">
                    <a:latin typeface="Arial" panose="020B0604020202020204" pitchFamily="34" charset="0"/>
                    <a:cs typeface="Arial" panose="020B0604020202020204" pitchFamily="34" charset="0"/>
                  </a:rPr>
                  <a:t>shallow</a:t>
                </a:r>
                <a:r>
                  <a:rPr lang="es-CO" sz="1200" dirty="0">
                    <a:latin typeface="Arial" panose="020B0604020202020204" pitchFamily="34" charset="0"/>
                    <a:cs typeface="Arial" panose="020B0604020202020204" pitchFamily="34" charset="0"/>
                  </a:rPr>
                  <a:t>, además el modo TE viaja con más retardo que el modo TM.</a:t>
                </a:r>
              </a:p>
              <a:p>
                <a:pPr algn="just"/>
                <a:r>
                  <a:rPr lang="es-CO" sz="1200" dirty="0" err="1">
                    <a:latin typeface="Arial" panose="020B0604020202020204" pitchFamily="34" charset="0"/>
                    <a:cs typeface="Arial" panose="020B0604020202020204" pitchFamily="34" charset="0"/>
                  </a:rPr>
                  <a:t>Tambien</a:t>
                </a:r>
                <a:r>
                  <a:rPr lang="es-CO" sz="1200" dirty="0">
                    <a:latin typeface="Arial" panose="020B0604020202020204" pitchFamily="34" charset="0"/>
                    <a:cs typeface="Arial" panose="020B0604020202020204" pitchFamily="34" charset="0"/>
                  </a:rPr>
                  <a:t> se observa una relación y es que entre mayor es el confinamiento menor es el índice de grupo. Aquí tendríamos que evaluar que se busca en el dispositivo, si buscamos un retraso d </a:t>
                </a:r>
                <a:r>
                  <a:rPr lang="es-CO" sz="1200" dirty="0" err="1">
                    <a:latin typeface="Arial" panose="020B0604020202020204" pitchFamily="34" charset="0"/>
                    <a:cs typeface="Arial" panose="020B0604020202020204" pitchFamily="34" charset="0"/>
                  </a:rPr>
                  <a:t>ela</a:t>
                </a:r>
                <a:r>
                  <a:rPr lang="es-CO" sz="1200" dirty="0">
                    <a:latin typeface="Arial" panose="020B0604020202020204" pitchFamily="34" charset="0"/>
                    <a:cs typeface="Arial" panose="020B0604020202020204" pitchFamily="34" charset="0"/>
                  </a:rPr>
                  <a:t> señal o no, esto podría tal vez generar un desfase si es lo que queremos. También tenemos en cuenta que el FSR depende del índice de grupo, pues </a:t>
                </a:r>
              </a:p>
              <a:p>
                <a:pPr algn="just"/>
                <a:endParaRPr lang="es-CO"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cs typeface="Arial" panose="020B0604020202020204" pitchFamily="34" charset="0"/>
                        </a:rPr>
                        <m:t>𝐹𝑆𝑅</m:t>
                      </m:r>
                      <m:r>
                        <a:rPr lang="es-ES" sz="1200" b="0" i="1" smtClean="0">
                          <a:latin typeface="Cambria Math" panose="02040503050406030204" pitchFamily="18" charset="0"/>
                          <a:ea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ea typeface="Cambria Math" panose="02040503050406030204" pitchFamily="18" charset="0"/>
                              <a:cs typeface="Arial" panose="020B0604020202020204" pitchFamily="34" charset="0"/>
                            </a:rPr>
                            <m:t>1</m:t>
                          </m:r>
                        </m:num>
                        <m:den>
                          <m:r>
                            <a:rPr lang="es-ES" sz="1200" b="0" i="1" smtClean="0">
                              <a:latin typeface="Cambria Math" panose="02040503050406030204" pitchFamily="18" charset="0"/>
                              <a:ea typeface="Cambria Math" panose="02040503050406030204" pitchFamily="18" charset="0"/>
                              <a:cs typeface="Arial" panose="020B0604020202020204" pitchFamily="34" charset="0"/>
                            </a:rPr>
                            <m:t>𝑛𝑔</m:t>
                          </m:r>
                        </m:den>
                      </m:f>
                    </m:oMath>
                  </m:oMathPara>
                </a14:m>
                <a:endParaRPr lang="es-CO" sz="120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r>
                  <a:rPr lang="es-CO" sz="1200" dirty="0">
                    <a:latin typeface="Arial" panose="020B0604020202020204" pitchFamily="34" charset="0"/>
                    <a:cs typeface="Arial" panose="020B0604020202020204" pitchFamily="34" charset="0"/>
                  </a:rPr>
                  <a:t>Así que si buscamos un FSR grande podríamos buscar que nuestra guía de onda haga que este índice sea pequeño, de lo contrario haríamos que este aumente.</a:t>
                </a: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r>
                  <a:rPr lang="es-CO" sz="1200" dirty="0">
                    <a:latin typeface="Arial" panose="020B0604020202020204" pitchFamily="34" charset="0"/>
                    <a:cs typeface="Arial" panose="020B0604020202020204" pitchFamily="34" charset="0"/>
                  </a:rPr>
                  <a:t>Ahora con respecto a la dispersión vemos que tenemos muy poca dispersión, lo cual es positivo, ya que en ninguna de las </a:t>
                </a:r>
                <a:r>
                  <a:rPr lang="es-CO" sz="1200" dirty="0" err="1">
                    <a:latin typeface="Arial" panose="020B0604020202020204" pitchFamily="34" charset="0"/>
                    <a:cs typeface="Arial" panose="020B0604020202020204" pitchFamily="34" charset="0"/>
                  </a:rPr>
                  <a:t>guias</a:t>
                </a:r>
                <a:r>
                  <a:rPr lang="es-CO" sz="1200" dirty="0">
                    <a:latin typeface="Arial" panose="020B0604020202020204" pitchFamily="34" charset="0"/>
                    <a:cs typeface="Arial" panose="020B0604020202020204" pitchFamily="34" charset="0"/>
                  </a:rPr>
                  <a:t> de onda se estaría deformando tanto la señal que ingresa a ella, en este caso vemos que en particular el caso TM0 de la Deep </a:t>
                </a:r>
                <a:r>
                  <a:rPr lang="es-CO" sz="1200" dirty="0" err="1">
                    <a:latin typeface="Arial" panose="020B0604020202020204" pitchFamily="34" charset="0"/>
                    <a:cs typeface="Arial" panose="020B0604020202020204" pitchFamily="34" charset="0"/>
                  </a:rPr>
                  <a:t>waveguide</a:t>
                </a:r>
                <a:r>
                  <a:rPr lang="es-CO" sz="1200" dirty="0">
                    <a:latin typeface="Arial" panose="020B0604020202020204" pitchFamily="34" charset="0"/>
                    <a:cs typeface="Arial" panose="020B0604020202020204" pitchFamily="34" charset="0"/>
                  </a:rPr>
                  <a:t> se </a:t>
                </a:r>
                <a:r>
                  <a:rPr lang="es-CO" sz="1200" dirty="0" err="1">
                    <a:latin typeface="Arial" panose="020B0604020202020204" pitchFamily="34" charset="0"/>
                    <a:cs typeface="Arial" panose="020B0604020202020204" pitchFamily="34" charset="0"/>
                  </a:rPr>
                  <a:t>deporma</a:t>
                </a:r>
                <a:r>
                  <a:rPr lang="es-CO" sz="1200" dirty="0">
                    <a:latin typeface="Arial" panose="020B0604020202020204" pitchFamily="34" charset="0"/>
                    <a:cs typeface="Arial" panose="020B0604020202020204" pitchFamily="34" charset="0"/>
                  </a:rPr>
                  <a:t> casi el doble que los otros modos. Con respecto al TE0 vemos que son muy parecidos para ambas </a:t>
                </a:r>
                <a:r>
                  <a:rPr lang="es-CO" sz="1200" dirty="0" err="1">
                    <a:latin typeface="Arial" panose="020B0604020202020204" pitchFamily="34" charset="0"/>
                    <a:cs typeface="Arial" panose="020B0604020202020204" pitchFamily="34" charset="0"/>
                  </a:rPr>
                  <a:t>guias</a:t>
                </a:r>
                <a:r>
                  <a:rPr lang="es-CO" sz="1200" dirty="0">
                    <a:latin typeface="Arial" panose="020B0604020202020204" pitchFamily="34" charset="0"/>
                    <a:cs typeface="Arial" panose="020B0604020202020204" pitchFamily="34" charset="0"/>
                  </a:rPr>
                  <a:t>, esto puede deberse a que el crecimiento </a:t>
                </a:r>
                <a:r>
                  <a:rPr lang="es-CO" sz="1200" dirty="0" err="1">
                    <a:latin typeface="Arial" panose="020B0604020202020204" pitchFamily="34" charset="0"/>
                    <a:cs typeface="Arial" panose="020B0604020202020204" pitchFamily="34" charset="0"/>
                  </a:rPr>
                  <a:t>parabolico</a:t>
                </a:r>
                <a:r>
                  <a:rPr lang="es-CO" sz="1200" dirty="0">
                    <a:latin typeface="Arial" panose="020B0604020202020204" pitchFamily="34" charset="0"/>
                    <a:cs typeface="Arial" panose="020B0604020202020204" pitchFamily="34" charset="0"/>
                  </a:rPr>
                  <a:t> en ambos casos es muy parecido, es decir el </a:t>
                </a:r>
                <a:r>
                  <a:rPr lang="es-CO" sz="1200" dirty="0" err="1">
                    <a:latin typeface="Arial" panose="020B0604020202020204" pitchFamily="34" charset="0"/>
                    <a:cs typeface="Arial" panose="020B0604020202020204" pitchFamily="34" charset="0"/>
                  </a:rPr>
                  <a:t>infdice</a:t>
                </a:r>
                <a:r>
                  <a:rPr lang="es-CO" sz="1200" dirty="0">
                    <a:latin typeface="Arial" panose="020B0604020202020204" pitchFamily="34" charset="0"/>
                    <a:cs typeface="Arial" panose="020B0604020202020204" pitchFamily="34" charset="0"/>
                  </a:rPr>
                  <a:t> efectivo varia en una cantidad similar al aumentar la longitud de onda, es decir que n_3 es parecido en la aproximación. </a:t>
                </a:r>
                <a:endParaRPr lang="es-CO" sz="1200" noProof="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141710"/>
                <a:ext cx="11198542" cy="4903586"/>
              </a:xfrm>
              <a:prstGeom prst="rect">
                <a:avLst/>
              </a:prstGeom>
              <a:blipFill>
                <a:blip r:embed="rId6"/>
                <a:stretch>
                  <a:fillRect/>
                </a:stretch>
              </a:blipFill>
              <a:ln w="28575">
                <a:solidFill>
                  <a:srgbClr val="E0700D"/>
                </a:solidFill>
              </a:ln>
            </p:spPr>
            <p:txBody>
              <a:bodyPr/>
              <a:lstStyle/>
              <a:p>
                <a:r>
                  <a:rPr lang="es-CO">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261041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261041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pic>
        <p:nvPicPr>
          <p:cNvPr id="17" name="Imagen 16" descr="Gráfico, Gráfico de líneas&#10;&#10;El contenido generado por IA puede ser incorrecto.">
            <a:extLst>
              <a:ext uri="{FF2B5EF4-FFF2-40B4-BE49-F238E27FC236}">
                <a16:creationId xmlns:a16="http://schemas.microsoft.com/office/drawing/2014/main" id="{BE94B7BA-BEA9-77DB-25D4-B0C1E1B7A340}"/>
              </a:ext>
            </a:extLst>
          </p:cNvPr>
          <p:cNvPicPr>
            <a:picLocks noChangeAspect="1"/>
          </p:cNvPicPr>
          <p:nvPr/>
        </p:nvPicPr>
        <p:blipFill>
          <a:blip r:embed="rId7"/>
          <a:stretch>
            <a:fillRect/>
          </a:stretch>
        </p:blipFill>
        <p:spPr>
          <a:xfrm>
            <a:off x="6463911" y="1518600"/>
            <a:ext cx="4862769" cy="2520000"/>
          </a:xfrm>
          <a:prstGeom prst="rect">
            <a:avLst/>
          </a:prstGeom>
        </p:spPr>
      </p:pic>
      <p:pic>
        <p:nvPicPr>
          <p:cNvPr id="19" name="Imagen 18" descr="Gráfico, Gráfico de líneas&#10;&#10;El contenido generado por IA puede ser incorrecto.">
            <a:extLst>
              <a:ext uri="{FF2B5EF4-FFF2-40B4-BE49-F238E27FC236}">
                <a16:creationId xmlns:a16="http://schemas.microsoft.com/office/drawing/2014/main" id="{E5F3E715-F114-4B12-4BFA-AFC8E512D656}"/>
              </a:ext>
            </a:extLst>
          </p:cNvPr>
          <p:cNvPicPr>
            <a:picLocks noChangeAspect="1"/>
          </p:cNvPicPr>
          <p:nvPr/>
        </p:nvPicPr>
        <p:blipFill>
          <a:blip r:embed="rId8"/>
          <a:stretch>
            <a:fillRect/>
          </a:stretch>
        </p:blipFill>
        <p:spPr>
          <a:xfrm>
            <a:off x="977351" y="1518600"/>
            <a:ext cx="4862770" cy="2520000"/>
          </a:xfrm>
          <a:prstGeom prst="rect">
            <a:avLst/>
          </a:prstGeom>
        </p:spPr>
      </p:pic>
      <p:graphicFrame>
        <p:nvGraphicFramePr>
          <p:cNvPr id="11" name="Objeto 10">
            <a:extLst>
              <a:ext uri="{FF2B5EF4-FFF2-40B4-BE49-F238E27FC236}">
                <a16:creationId xmlns:a16="http://schemas.microsoft.com/office/drawing/2014/main" id="{6E37E43D-E55A-5DBF-D13B-37751B48B169}"/>
              </a:ext>
            </a:extLst>
          </p:cNvPr>
          <p:cNvGraphicFramePr>
            <a:graphicFrameLocks noChangeAspect="1"/>
          </p:cNvGraphicFramePr>
          <p:nvPr/>
        </p:nvGraphicFramePr>
        <p:xfrm>
          <a:off x="3810000" y="4703476"/>
          <a:ext cx="3819525" cy="1000125"/>
        </p:xfrm>
        <a:graphic>
          <a:graphicData uri="http://schemas.openxmlformats.org/presentationml/2006/ole">
            <mc:AlternateContent xmlns:mc="http://schemas.openxmlformats.org/markup-compatibility/2006">
              <mc:Choice xmlns:v="urn:schemas-microsoft-com:vml" Requires="v">
                <p:oleObj name="Worksheet" r:id="rId9" imgW="3819552" imgH="1000026" progId="Excel.Sheet.12">
                  <p:embed/>
                </p:oleObj>
              </mc:Choice>
              <mc:Fallback>
                <p:oleObj name="Worksheet" r:id="rId9" imgW="3819552" imgH="1000026" progId="Excel.Sheet.12">
                  <p:embed/>
                  <p:pic>
                    <p:nvPicPr>
                      <p:cNvPr id="11" name="Objeto 10">
                        <a:extLst>
                          <a:ext uri="{FF2B5EF4-FFF2-40B4-BE49-F238E27FC236}">
                            <a16:creationId xmlns:a16="http://schemas.microsoft.com/office/drawing/2014/main" id="{6E37E43D-E55A-5DBF-D13B-37751B48B169}"/>
                          </a:ext>
                        </a:extLst>
                      </p:cNvPr>
                      <p:cNvPicPr/>
                      <p:nvPr/>
                    </p:nvPicPr>
                    <p:blipFill>
                      <a:blip r:embed="rId10"/>
                      <a:stretch>
                        <a:fillRect/>
                      </a:stretch>
                    </p:blipFill>
                    <p:spPr>
                      <a:xfrm>
                        <a:off x="3810000" y="4703476"/>
                        <a:ext cx="3819525" cy="1000125"/>
                      </a:xfrm>
                      <a:prstGeom prst="rect">
                        <a:avLst/>
                      </a:prstGeom>
                    </p:spPr>
                  </p:pic>
                </p:oleObj>
              </mc:Fallback>
            </mc:AlternateContent>
          </a:graphicData>
        </a:graphic>
      </p:graphicFrame>
    </p:spTree>
    <p:extLst>
      <p:ext uri="{BB962C8B-B14F-4D97-AF65-F5344CB8AC3E}">
        <p14:creationId xmlns:p14="http://schemas.microsoft.com/office/powerpoint/2010/main" val="236054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B645C-5BE0-570F-5327-694745F969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7E1AE8D-9ACF-2354-CC59-BFABC15F7292}"/>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s-CO" sz="2500" noProof="0" dirty="0" err="1"/>
              <a:t>Learning</a:t>
            </a:r>
            <a:r>
              <a:rPr lang="es-CO" sz="2500" noProof="0" dirty="0"/>
              <a:t> </a:t>
            </a:r>
            <a:r>
              <a:rPr lang="es-CO" sz="2500" noProof="0" dirty="0" err="1"/>
              <a:t>outcome</a:t>
            </a:r>
            <a:r>
              <a:rPr lang="es-CO" sz="2500" noProof="0" dirty="0"/>
              <a:t> #4 – Bend </a:t>
            </a:r>
            <a:r>
              <a:rPr lang="es-CO" sz="2500" noProof="0" dirty="0" err="1"/>
              <a:t>waveguide</a:t>
            </a:r>
            <a:r>
              <a:rPr lang="es-CO" sz="2500" noProof="0" dirty="0"/>
              <a:t> </a:t>
            </a:r>
            <a:r>
              <a:rPr lang="es-CO" sz="2500" noProof="0" dirty="0" err="1"/>
              <a:t>radius</a:t>
            </a:r>
            <a:r>
              <a:rPr lang="es-CO" sz="2500" noProof="0" dirty="0"/>
              <a:t> vs. </a:t>
            </a:r>
            <a:r>
              <a:rPr lang="es-CO" sz="2500" noProof="0" dirty="0" err="1"/>
              <a:t>loss</a:t>
            </a:r>
            <a:r>
              <a:rPr lang="es-CO" sz="2500" noProof="0" dirty="0"/>
              <a:t> – </a:t>
            </a:r>
            <a:r>
              <a:rPr lang="es-CO" sz="2500" noProof="0" dirty="0" err="1"/>
              <a:t>deep</a:t>
            </a:r>
            <a:br>
              <a:rPr lang="es-CO" sz="2500" noProof="0" dirty="0"/>
            </a:br>
            <a:r>
              <a:rPr lang="es-CO" b="0" noProof="0" dirty="0" err="1"/>
              <a:t>Find</a:t>
            </a:r>
            <a:r>
              <a:rPr lang="es-CO" b="0" noProof="0" dirty="0"/>
              <a:t>  neff_TE0 </a:t>
            </a:r>
            <a:r>
              <a:rPr lang="es-CO" b="0" noProof="0" dirty="0" err="1"/>
              <a:t>for</a:t>
            </a:r>
            <a:r>
              <a:rPr lang="es-CO" b="0" noProof="0" dirty="0"/>
              <a:t> </a:t>
            </a:r>
            <a:r>
              <a:rPr lang="es-CO" b="0" noProof="0" dirty="0" err="1"/>
              <a:t>wvl</a:t>
            </a:r>
            <a:r>
              <a:rPr lang="es-CO" b="0" noProof="0" dirty="0"/>
              <a:t> 1.55 µm, </a:t>
            </a:r>
            <a:r>
              <a:rPr lang="es-CO" b="0" noProof="0" dirty="0" err="1"/>
              <a:t>width</a:t>
            </a:r>
            <a:r>
              <a:rPr lang="es-CO" b="0" noProof="0" dirty="0"/>
              <a:t> 1.0 µm </a:t>
            </a:r>
            <a:r>
              <a:rPr lang="es-CO" b="0" noProof="0" dirty="0" err="1"/>
              <a:t>for</a:t>
            </a:r>
            <a:r>
              <a:rPr lang="es-CO" b="0" noProof="0" dirty="0"/>
              <a:t> R=25,50,75,100, 125,150 µm</a:t>
            </a:r>
            <a:br>
              <a:rPr lang="es-CO" sz="2500" noProof="0" dirty="0"/>
            </a:b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A24EF32E-6ED2-B963-7636-898BBEDBA6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D4647FB-800E-DA36-C2FE-7C8EA6DC9691}"/>
              </a:ext>
            </a:extLst>
          </p:cNvPr>
          <p:cNvSpPr>
            <a:spLocks noGrp="1"/>
          </p:cNvSpPr>
          <p:nvPr>
            <p:ph type="sldNum" sz="quarter" idx="7"/>
          </p:nvPr>
        </p:nvSpPr>
        <p:spPr/>
        <p:txBody>
          <a:bodyPr/>
          <a:lstStyle/>
          <a:p>
            <a:fld id="{B6F15528-21DE-4FAA-801E-634DDDAF4B2B}" type="slidenum">
              <a:rPr lang="es-CO" noProof="0" smtClean="0"/>
              <a:t>8</a:t>
            </a:fld>
            <a:endParaRPr lang="es-CO" noProof="0" dirty="0"/>
          </a:p>
        </p:txBody>
      </p:sp>
      <p:sp>
        <p:nvSpPr>
          <p:cNvPr id="3" name="Marcador de pie de página 2">
            <a:extLst>
              <a:ext uri="{FF2B5EF4-FFF2-40B4-BE49-F238E27FC236}">
                <a16:creationId xmlns:a16="http://schemas.microsoft.com/office/drawing/2014/main" id="{958FB840-E1F5-33DD-9DAB-429D7F76EDEC}"/>
              </a:ext>
            </a:extLst>
          </p:cNvPr>
          <p:cNvSpPr>
            <a:spLocks noGrp="1"/>
          </p:cNvSpPr>
          <p:nvPr>
            <p:ph type="ftr" sz="quarter" idx="5"/>
          </p:nvPr>
        </p:nvSpPr>
        <p:spPr/>
        <p:txBody>
          <a:bodyPr/>
          <a:lstStyle/>
          <a:p>
            <a:pPr marL="12700">
              <a:spcBef>
                <a:spcPts val="15"/>
              </a:spcBef>
            </a:pPr>
            <a:r>
              <a:rPr lang="es-CO" spc="-5" noProof="0" dirty="0"/>
              <a:t>LAB 1.0. WAVEGUIDES</a:t>
            </a:r>
          </a:p>
        </p:txBody>
      </p:sp>
      <p:sp>
        <p:nvSpPr>
          <p:cNvPr id="2" name="CuadroTexto 1">
            <a:extLst>
              <a:ext uri="{FF2B5EF4-FFF2-40B4-BE49-F238E27FC236}">
                <a16:creationId xmlns:a16="http://schemas.microsoft.com/office/drawing/2014/main" id="{A37F1F9D-67A3-DD8C-671F-BABC77D09ACF}"/>
              </a:ext>
            </a:extLst>
          </p:cNvPr>
          <p:cNvSpPr txBox="1"/>
          <p:nvPr/>
        </p:nvSpPr>
        <p:spPr>
          <a:xfrm>
            <a:off x="384408" y="4860334"/>
            <a:ext cx="11578992" cy="1384995"/>
          </a:xfrm>
          <a:prstGeom prst="rect">
            <a:avLst/>
          </a:prstGeom>
          <a:solidFill>
            <a:schemeClr val="bg1">
              <a:lumMod val="95000"/>
            </a:schemeClr>
          </a:solidFill>
          <a:ln w="28575">
            <a:solidFill>
              <a:srgbClr val="E0700D"/>
            </a:solidFill>
          </a:ln>
        </p:spPr>
        <p:txBody>
          <a:bodyPr wrap="square" rtlCol="0">
            <a:spAutoFit/>
          </a:bodyPr>
          <a:lstStyle/>
          <a:p>
            <a:pPr algn="just"/>
            <a:r>
              <a:rPr lang="es-CO" sz="1200" noProof="0" dirty="0">
                <a:latin typeface="Arial" panose="020B0604020202020204" pitchFamily="34" charset="0"/>
                <a:cs typeface="Arial" panose="020B0604020202020204" pitchFamily="34" charset="0"/>
              </a:rPr>
              <a:t>Primero miramos como cambia el índice efectivo con respecto al radio de curvatura, encontramos que, en ambos casos (TE0 y TM0) </a:t>
            </a:r>
            <a:r>
              <a:rPr lang="es-CO" sz="1200" dirty="0">
                <a:latin typeface="Arial" panose="020B0604020202020204" pitchFamily="34" charset="0"/>
                <a:cs typeface="Arial" panose="020B0604020202020204" pitchFamily="34" charset="0"/>
              </a:rPr>
              <a:t>a medida que aumenta el radio de curvatura se disminuye el índice efectivo, es decir, que viajan cada vez menos confinados los modos, acercándose cada vez más al índice de refracción del </a:t>
            </a:r>
            <a:r>
              <a:rPr lang="es-CO" sz="1200" dirty="0" err="1">
                <a:latin typeface="Arial" panose="020B0604020202020204" pitchFamily="34" charset="0"/>
                <a:cs typeface="Arial" panose="020B0604020202020204" pitchFamily="34" charset="0"/>
              </a:rPr>
              <a:t>cladding</a:t>
            </a:r>
            <a:r>
              <a:rPr lang="es-CO" sz="1200" dirty="0">
                <a:latin typeface="Arial" panose="020B0604020202020204" pitchFamily="34" charset="0"/>
                <a:cs typeface="Arial" panose="020B0604020202020204" pitchFamily="34" charset="0"/>
              </a:rPr>
              <a:t>. También en ambos casos la variación es muy muy pequeña, pues si observamos la primera gráfica vemos como es casi nula a comparación de la escala que se maneja allí. </a:t>
            </a:r>
            <a:r>
              <a:rPr lang="es-CO" sz="1200" noProof="0" dirty="0">
                <a:latin typeface="Arial" panose="020B0604020202020204" pitchFamily="34" charset="0"/>
                <a:cs typeface="Arial" panose="020B0604020202020204" pitchFamily="34" charset="0"/>
              </a:rPr>
              <a:t> </a:t>
            </a: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4F23A60D-C265-66E7-2CFE-E46C0ED91B71}"/>
              </a:ext>
            </a:extLst>
          </p:cNvPr>
          <p:cNvSpPr/>
          <p:nvPr/>
        </p:nvSpPr>
        <p:spPr>
          <a:xfrm>
            <a:off x="384407" y="1418373"/>
            <a:ext cx="11578993"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pic>
        <p:nvPicPr>
          <p:cNvPr id="6" name="Imagen 5">
            <a:extLst>
              <a:ext uri="{FF2B5EF4-FFF2-40B4-BE49-F238E27FC236}">
                <a16:creationId xmlns:a16="http://schemas.microsoft.com/office/drawing/2014/main" id="{C8881E33-4973-CE6F-FF02-90A7E17A6ECA}"/>
              </a:ext>
            </a:extLst>
          </p:cNvPr>
          <p:cNvPicPr>
            <a:picLocks noChangeAspect="1"/>
          </p:cNvPicPr>
          <p:nvPr/>
        </p:nvPicPr>
        <p:blipFill>
          <a:blip r:embed="rId5"/>
          <a:stretch>
            <a:fillRect/>
          </a:stretch>
        </p:blipFill>
        <p:spPr>
          <a:xfrm>
            <a:off x="4182950" y="1599603"/>
            <a:ext cx="3816000" cy="2520000"/>
          </a:xfrm>
          <a:prstGeom prst="rect">
            <a:avLst/>
          </a:prstGeom>
        </p:spPr>
      </p:pic>
      <p:pic>
        <p:nvPicPr>
          <p:cNvPr id="11" name="Imagen 10">
            <a:extLst>
              <a:ext uri="{FF2B5EF4-FFF2-40B4-BE49-F238E27FC236}">
                <a16:creationId xmlns:a16="http://schemas.microsoft.com/office/drawing/2014/main" id="{15D1BE85-4493-1427-0BAF-44F363E72E27}"/>
              </a:ext>
            </a:extLst>
          </p:cNvPr>
          <p:cNvPicPr>
            <a:picLocks noChangeAspect="1"/>
          </p:cNvPicPr>
          <p:nvPr/>
        </p:nvPicPr>
        <p:blipFill>
          <a:blip r:embed="rId6"/>
          <a:stretch>
            <a:fillRect/>
          </a:stretch>
        </p:blipFill>
        <p:spPr>
          <a:xfrm>
            <a:off x="7997131" y="1600222"/>
            <a:ext cx="3810462" cy="2520000"/>
          </a:xfrm>
          <a:prstGeom prst="rect">
            <a:avLst/>
          </a:prstGeom>
        </p:spPr>
      </p:pic>
      <p:pic>
        <p:nvPicPr>
          <p:cNvPr id="15" name="Imagen 14">
            <a:extLst>
              <a:ext uri="{FF2B5EF4-FFF2-40B4-BE49-F238E27FC236}">
                <a16:creationId xmlns:a16="http://schemas.microsoft.com/office/drawing/2014/main" id="{4FD8E334-D474-A5DC-4D0D-2F704BC628CA}"/>
              </a:ext>
            </a:extLst>
          </p:cNvPr>
          <p:cNvPicPr>
            <a:picLocks noChangeAspect="1"/>
          </p:cNvPicPr>
          <p:nvPr/>
        </p:nvPicPr>
        <p:blipFill>
          <a:blip r:embed="rId7"/>
          <a:stretch>
            <a:fillRect/>
          </a:stretch>
        </p:blipFill>
        <p:spPr>
          <a:xfrm>
            <a:off x="510950" y="1599603"/>
            <a:ext cx="3672000" cy="2520000"/>
          </a:xfrm>
          <a:prstGeom prst="rect">
            <a:avLst/>
          </a:prstGeom>
        </p:spPr>
      </p:pic>
    </p:spTree>
    <p:extLst>
      <p:ext uri="{BB962C8B-B14F-4D97-AF65-F5344CB8AC3E}">
        <p14:creationId xmlns:p14="http://schemas.microsoft.com/office/powerpoint/2010/main" val="16149173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s-CO" sz="2500" noProof="0" dirty="0" err="1"/>
              <a:t>Learning</a:t>
            </a:r>
            <a:r>
              <a:rPr lang="es-CO" sz="2500" noProof="0" dirty="0"/>
              <a:t> </a:t>
            </a:r>
            <a:r>
              <a:rPr lang="es-CO" sz="2500" noProof="0" dirty="0" err="1"/>
              <a:t>outcome</a:t>
            </a:r>
            <a:r>
              <a:rPr lang="es-CO" sz="2500" noProof="0" dirty="0"/>
              <a:t> #4 – Bend </a:t>
            </a:r>
            <a:r>
              <a:rPr lang="es-CO" sz="2500" noProof="0" dirty="0" err="1"/>
              <a:t>waveguide</a:t>
            </a:r>
            <a:r>
              <a:rPr lang="es-CO" sz="2500" noProof="0" dirty="0"/>
              <a:t> </a:t>
            </a:r>
            <a:r>
              <a:rPr lang="es-CO" sz="2500" noProof="0" dirty="0" err="1"/>
              <a:t>radius</a:t>
            </a:r>
            <a:r>
              <a:rPr lang="es-CO" sz="2500" noProof="0" dirty="0"/>
              <a:t> vs. </a:t>
            </a:r>
            <a:r>
              <a:rPr lang="es-CO" sz="2500" noProof="0" dirty="0" err="1"/>
              <a:t>loss</a:t>
            </a:r>
            <a:r>
              <a:rPr lang="es-CO" sz="2500" noProof="0" dirty="0"/>
              <a:t> – </a:t>
            </a:r>
            <a:r>
              <a:rPr lang="es-CO" sz="2500" noProof="0" dirty="0" err="1"/>
              <a:t>deep</a:t>
            </a:r>
            <a:br>
              <a:rPr lang="es-CO" sz="2500" noProof="0" dirty="0"/>
            </a:br>
            <a:r>
              <a:rPr lang="es-CO" b="0" noProof="0" dirty="0" err="1"/>
              <a:t>Find</a:t>
            </a:r>
            <a:r>
              <a:rPr lang="es-CO" b="0" noProof="0" dirty="0"/>
              <a:t>  neff_TE0 </a:t>
            </a:r>
            <a:r>
              <a:rPr lang="es-CO" b="0" noProof="0" dirty="0" err="1"/>
              <a:t>for</a:t>
            </a:r>
            <a:r>
              <a:rPr lang="es-CO" b="0" noProof="0" dirty="0"/>
              <a:t> </a:t>
            </a:r>
            <a:r>
              <a:rPr lang="es-CO" b="0" noProof="0" dirty="0" err="1"/>
              <a:t>wvl</a:t>
            </a:r>
            <a:r>
              <a:rPr lang="es-CO" b="0" noProof="0" dirty="0"/>
              <a:t> 1.55 µm, </a:t>
            </a:r>
            <a:r>
              <a:rPr lang="es-CO" b="0" noProof="0" dirty="0" err="1"/>
              <a:t>width</a:t>
            </a:r>
            <a:r>
              <a:rPr lang="es-CO" b="0" noProof="0" dirty="0"/>
              <a:t> 1.0 µm </a:t>
            </a:r>
            <a:r>
              <a:rPr lang="es-CO" b="0" noProof="0" dirty="0" err="1"/>
              <a:t>for</a:t>
            </a:r>
            <a:r>
              <a:rPr lang="es-CO" b="0" noProof="0" dirty="0"/>
              <a:t> R=25,50,75,100, 125,150 µm</a:t>
            </a:r>
            <a:br>
              <a:rPr lang="es-CO" sz="2500" noProof="0" dirty="0"/>
            </a:b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CO" noProof="0" smtClean="0"/>
              <a:t>9</a:t>
            </a:fld>
            <a:endParaRPr lang="es-CO" noProof="0" dirty="0"/>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CO" spc="-5" noProof="0" dirty="0"/>
              <a:t>LAB 1.0. WAVEGUIDES</a:t>
            </a:r>
          </a:p>
        </p:txBody>
      </p:sp>
      <p:sp>
        <p:nvSpPr>
          <p:cNvPr id="2" name="CuadroTexto 1">
            <a:extLst>
              <a:ext uri="{FF2B5EF4-FFF2-40B4-BE49-F238E27FC236}">
                <a16:creationId xmlns:a16="http://schemas.microsoft.com/office/drawing/2014/main" id="{FDE3A197-9508-F9F1-1FEB-FF883D78C151}"/>
              </a:ext>
            </a:extLst>
          </p:cNvPr>
          <p:cNvSpPr txBox="1"/>
          <p:nvPr/>
        </p:nvSpPr>
        <p:spPr>
          <a:xfrm>
            <a:off x="6670198" y="1397590"/>
            <a:ext cx="5165997" cy="4524315"/>
          </a:xfrm>
          <a:prstGeom prst="rect">
            <a:avLst/>
          </a:prstGeom>
          <a:solidFill>
            <a:schemeClr val="bg1">
              <a:lumMod val="95000"/>
            </a:schemeClr>
          </a:solidFill>
          <a:ln w="28575">
            <a:solidFill>
              <a:srgbClr val="E0700D"/>
            </a:solidFill>
          </a:ln>
        </p:spPr>
        <p:txBody>
          <a:bodyPr wrap="square" rtlCol="0">
            <a:spAutoFit/>
          </a:bodyPr>
          <a:lstStyle/>
          <a:p>
            <a:pPr algn="just"/>
            <a:r>
              <a:rPr lang="es-CO" sz="1200" noProof="0" dirty="0" err="1">
                <a:latin typeface="Arial" panose="020B0604020202020204" pitchFamily="34" charset="0"/>
                <a:cs typeface="Arial" panose="020B0604020202020204" pitchFamily="34" charset="0"/>
              </a:rPr>
              <a:t>Comment</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results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which</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is</a:t>
            </a:r>
            <a:r>
              <a:rPr lang="es-CO" sz="1200" noProof="0" dirty="0">
                <a:latin typeface="Arial" panose="020B0604020202020204" pitchFamily="34" charset="0"/>
                <a:cs typeface="Arial" panose="020B0604020202020204" pitchFamily="34" charset="0"/>
              </a:rPr>
              <a:t> the </a:t>
            </a:r>
            <a:r>
              <a:rPr lang="es-CO" sz="1200" noProof="0" dirty="0" err="1">
                <a:latin typeface="Arial" panose="020B0604020202020204" pitchFamily="34" charset="0"/>
                <a:cs typeface="Arial" panose="020B0604020202020204" pitchFamily="34" charset="0"/>
              </a:rPr>
              <a:t>safe</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radius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consider</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safe</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means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less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than</a:t>
            </a:r>
            <a:r>
              <a:rPr lang="es-CO" sz="1200" noProof="0" dirty="0">
                <a:latin typeface="Arial" panose="020B0604020202020204" pitchFamily="34" charset="0"/>
                <a:cs typeface="Arial" panose="020B0604020202020204" pitchFamily="34" charset="0"/>
              </a:rPr>
              <a:t> 0.1 dB/90º.</a:t>
            </a:r>
          </a:p>
          <a:p>
            <a:pPr algn="just"/>
            <a:endParaRPr lang="es-CO" sz="120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Ahora, si vemos las perdidas encontramos que en el caso de las perdidas de modo, estas disminuyen a medida que aumentamos el tamaño del radio, esto es debido a que al aumentar el radio no choca tan directamente con un cambio de índice de refracción que se encuentra en las paredes de la guía. </a:t>
            </a:r>
          </a:p>
          <a:p>
            <a:pPr algn="just"/>
            <a:endParaRPr lang="es-CO" sz="120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En el caso del modo TE0 y TM0 vemos como las perdidas de propagación se vuelven más importantes a medida que aumentamos el tamaño del radio, siendo para TE0 desde los 70 </a:t>
            </a:r>
            <a:r>
              <a:rPr lang="es-CO" sz="1200" noProof="0" dirty="0" err="1">
                <a:latin typeface="Arial" panose="020B0604020202020204" pitchFamily="34" charset="0"/>
                <a:cs typeface="Arial" panose="020B0604020202020204" pitchFamily="34" charset="0"/>
              </a:rPr>
              <a:t>um</a:t>
            </a:r>
            <a:r>
              <a:rPr lang="es-CO" sz="1200" noProof="0" dirty="0">
                <a:latin typeface="Arial" panose="020B0604020202020204" pitchFamily="34" charset="0"/>
                <a:cs typeface="Arial" panose="020B0604020202020204" pitchFamily="34" charset="0"/>
              </a:rPr>
              <a:t> el comportamiento que siguen las perdidas totales. Por esta razón es necesario encontrar un balance entre los dos tipos de perdidas contemplados, en este caso, un radio de curvatura que nos proporcionaría las menores perdidas estaría alrededor de los 65 </a:t>
            </a:r>
            <a:r>
              <a:rPr lang="es-CO" sz="1200" noProof="0" dirty="0" err="1">
                <a:latin typeface="Arial" panose="020B0604020202020204" pitchFamily="34" charset="0"/>
                <a:cs typeface="Arial" panose="020B0604020202020204" pitchFamily="34" charset="0"/>
              </a:rPr>
              <a:t>um</a:t>
            </a:r>
            <a:r>
              <a:rPr lang="es-CO" sz="1200" noProof="0" dirty="0">
                <a:latin typeface="Arial" panose="020B0604020202020204" pitchFamily="34" charset="0"/>
                <a:cs typeface="Arial" panose="020B0604020202020204" pitchFamily="34" charset="0"/>
              </a:rPr>
              <a:t>, ese valor sería el radio seguro para el modo TE0</a:t>
            </a:r>
            <a:r>
              <a:rPr lang="es-CO" sz="1200" dirty="0">
                <a:latin typeface="Arial" panose="020B0604020202020204" pitchFamily="34" charset="0"/>
                <a:cs typeface="Arial" panose="020B0604020202020204" pitchFamily="34" charset="0"/>
              </a:rPr>
              <a:t>. </a:t>
            </a:r>
            <a:r>
              <a:rPr lang="es-CO" sz="1200" noProof="0" dirty="0">
                <a:latin typeface="Arial" panose="020B0604020202020204" pitchFamily="34" charset="0"/>
                <a:cs typeface="Arial" panose="020B0604020202020204" pitchFamily="34" charset="0"/>
              </a:rPr>
              <a:t> </a:t>
            </a:r>
          </a:p>
          <a:p>
            <a:pPr algn="just"/>
            <a:endParaRPr lang="es-CO" sz="120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En el caso del modo TM0 vemos como tenemos mayores perdidas y adicionalmente para los 150 </a:t>
            </a:r>
            <a:r>
              <a:rPr lang="es-CO" sz="1200" noProof="0" dirty="0" err="1">
                <a:latin typeface="Arial" panose="020B0604020202020204" pitchFamily="34" charset="0"/>
                <a:cs typeface="Arial" panose="020B0604020202020204" pitchFamily="34" charset="0"/>
              </a:rPr>
              <a:t>um</a:t>
            </a:r>
            <a:r>
              <a:rPr lang="es-CO" sz="1200" noProof="0" dirty="0">
                <a:latin typeface="Arial" panose="020B0604020202020204" pitchFamily="34" charset="0"/>
                <a:cs typeface="Arial" panose="020B0604020202020204" pitchFamily="34" charset="0"/>
              </a:rPr>
              <a:t> aun no se rige el comportamiento final por las perdidas de propagación, sino que probablemente allí es donde empiece a dominar. Por lo que si buscamos propagar el modo TM0 en esta guía, es necesario tener radios de curvatura más grandes que en el caso del TE0.</a:t>
            </a:r>
          </a:p>
          <a:p>
            <a:pPr algn="just"/>
            <a:endParaRPr lang="es-CO" sz="1200" noProof="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304800" y="1418372"/>
            <a:ext cx="6264002" cy="4677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p:pic>
        <p:nvPicPr>
          <p:cNvPr id="10" name="Imagen 9">
            <a:extLst>
              <a:ext uri="{FF2B5EF4-FFF2-40B4-BE49-F238E27FC236}">
                <a16:creationId xmlns:a16="http://schemas.microsoft.com/office/drawing/2014/main" id="{F8C1959B-E2C3-46CD-3B61-6D7126E9B0F7}"/>
              </a:ext>
            </a:extLst>
          </p:cNvPr>
          <p:cNvPicPr>
            <a:picLocks noChangeAspect="1"/>
          </p:cNvPicPr>
          <p:nvPr/>
        </p:nvPicPr>
        <p:blipFill>
          <a:blip r:embed="rId5"/>
          <a:stretch>
            <a:fillRect/>
          </a:stretch>
        </p:blipFill>
        <p:spPr>
          <a:xfrm>
            <a:off x="457201" y="1470434"/>
            <a:ext cx="2880000" cy="2232368"/>
          </a:xfrm>
          <a:prstGeom prst="rect">
            <a:avLst/>
          </a:prstGeom>
        </p:spPr>
      </p:pic>
      <p:pic>
        <p:nvPicPr>
          <p:cNvPr id="12" name="Imagen 11">
            <a:extLst>
              <a:ext uri="{FF2B5EF4-FFF2-40B4-BE49-F238E27FC236}">
                <a16:creationId xmlns:a16="http://schemas.microsoft.com/office/drawing/2014/main" id="{569F9F3D-9E5D-BE0E-DF2D-B4844690F3C4}"/>
              </a:ext>
            </a:extLst>
          </p:cNvPr>
          <p:cNvPicPr>
            <a:picLocks noChangeAspect="1"/>
          </p:cNvPicPr>
          <p:nvPr/>
        </p:nvPicPr>
        <p:blipFill>
          <a:blip r:embed="rId6"/>
          <a:stretch>
            <a:fillRect/>
          </a:stretch>
        </p:blipFill>
        <p:spPr>
          <a:xfrm>
            <a:off x="3410888" y="1498925"/>
            <a:ext cx="2880000" cy="2275000"/>
          </a:xfrm>
          <a:prstGeom prst="rect">
            <a:avLst/>
          </a:prstGeom>
        </p:spPr>
      </p:pic>
      <p:pic>
        <p:nvPicPr>
          <p:cNvPr id="15" name="Imagen 14">
            <a:extLst>
              <a:ext uri="{FF2B5EF4-FFF2-40B4-BE49-F238E27FC236}">
                <a16:creationId xmlns:a16="http://schemas.microsoft.com/office/drawing/2014/main" id="{F49F4D02-C865-893E-90D1-967FDA1464FF}"/>
              </a:ext>
            </a:extLst>
          </p:cNvPr>
          <p:cNvPicPr>
            <a:picLocks noChangeAspect="1"/>
          </p:cNvPicPr>
          <p:nvPr/>
        </p:nvPicPr>
        <p:blipFill>
          <a:blip r:embed="rId7"/>
          <a:stretch>
            <a:fillRect/>
          </a:stretch>
        </p:blipFill>
        <p:spPr>
          <a:xfrm>
            <a:off x="457201" y="3842604"/>
            <a:ext cx="2880000" cy="2087518"/>
          </a:xfrm>
          <a:prstGeom prst="rect">
            <a:avLst/>
          </a:prstGeom>
        </p:spPr>
      </p:pic>
      <p:pic>
        <p:nvPicPr>
          <p:cNvPr id="18" name="Imagen 17">
            <a:extLst>
              <a:ext uri="{FF2B5EF4-FFF2-40B4-BE49-F238E27FC236}">
                <a16:creationId xmlns:a16="http://schemas.microsoft.com/office/drawing/2014/main" id="{710E201C-7B5D-8CAA-F915-87FA252D8C64}"/>
              </a:ext>
            </a:extLst>
          </p:cNvPr>
          <p:cNvPicPr>
            <a:picLocks noChangeAspect="1"/>
          </p:cNvPicPr>
          <p:nvPr/>
        </p:nvPicPr>
        <p:blipFill>
          <a:blip r:embed="rId8"/>
          <a:stretch>
            <a:fillRect/>
          </a:stretch>
        </p:blipFill>
        <p:spPr>
          <a:xfrm>
            <a:off x="3410888" y="3655122"/>
            <a:ext cx="2880000" cy="2275000"/>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362E9-4EF2-374D-8182-0F996F5E891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25534C6-91A7-F047-3828-B746C3759AD0}"/>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s-CO" sz="2500" noProof="0" dirty="0" err="1"/>
              <a:t>Learning</a:t>
            </a:r>
            <a:r>
              <a:rPr lang="es-CO" sz="2500" noProof="0" dirty="0"/>
              <a:t> </a:t>
            </a:r>
            <a:r>
              <a:rPr lang="es-CO" sz="2500" noProof="0" dirty="0" err="1"/>
              <a:t>outcome</a:t>
            </a:r>
            <a:r>
              <a:rPr lang="es-CO" sz="2500" noProof="0" dirty="0"/>
              <a:t> #4 – Bend </a:t>
            </a:r>
            <a:r>
              <a:rPr lang="es-CO" sz="2500" noProof="0" dirty="0" err="1"/>
              <a:t>waveguide</a:t>
            </a:r>
            <a:r>
              <a:rPr lang="es-CO" sz="2500" noProof="0" dirty="0"/>
              <a:t> </a:t>
            </a:r>
            <a:r>
              <a:rPr lang="es-CO" sz="2500" noProof="0" dirty="0" err="1"/>
              <a:t>radius</a:t>
            </a:r>
            <a:r>
              <a:rPr lang="es-CO" sz="2500" noProof="0" dirty="0"/>
              <a:t> vs. </a:t>
            </a:r>
            <a:r>
              <a:rPr lang="es-CO" sz="2500" noProof="0" dirty="0" err="1"/>
              <a:t>loss</a:t>
            </a:r>
            <a:r>
              <a:rPr lang="es-CO" sz="2500" noProof="0" dirty="0"/>
              <a:t> – </a:t>
            </a:r>
            <a:r>
              <a:rPr lang="es-CO" sz="2500" noProof="0" dirty="0" err="1"/>
              <a:t>deep</a:t>
            </a:r>
            <a:br>
              <a:rPr lang="es-CO" sz="2500" noProof="0" dirty="0"/>
            </a:br>
            <a:r>
              <a:rPr lang="en-US" b="0" dirty="0"/>
              <a:t>Use the code provided in this section to calculate the safe radius for 1.2 um width deep waveguides at 1.5 um.</a:t>
            </a:r>
            <a:br>
              <a:rPr lang="en-US" b="0" dirty="0"/>
            </a:br>
            <a:br>
              <a:rPr lang="es-CO" sz="2500" noProof="0" dirty="0"/>
            </a:b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E85A83B2-DE96-1F40-F9DD-43BC72F0D7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C69CE97-ADD2-558B-8E8B-31412D681100}"/>
              </a:ext>
            </a:extLst>
          </p:cNvPr>
          <p:cNvSpPr>
            <a:spLocks noGrp="1"/>
          </p:cNvSpPr>
          <p:nvPr>
            <p:ph type="sldNum" sz="quarter" idx="7"/>
          </p:nvPr>
        </p:nvSpPr>
        <p:spPr/>
        <p:txBody>
          <a:bodyPr/>
          <a:lstStyle/>
          <a:p>
            <a:fld id="{B6F15528-21DE-4FAA-801E-634DDDAF4B2B}" type="slidenum">
              <a:rPr lang="es-CO" noProof="0" smtClean="0"/>
              <a:t>10</a:t>
            </a:fld>
            <a:endParaRPr lang="es-CO" noProof="0" dirty="0"/>
          </a:p>
        </p:txBody>
      </p:sp>
      <p:sp>
        <p:nvSpPr>
          <p:cNvPr id="3" name="Marcador de pie de página 2">
            <a:extLst>
              <a:ext uri="{FF2B5EF4-FFF2-40B4-BE49-F238E27FC236}">
                <a16:creationId xmlns:a16="http://schemas.microsoft.com/office/drawing/2014/main" id="{6D565AE7-A8EF-92E1-7293-A5C503D05BF7}"/>
              </a:ext>
            </a:extLst>
          </p:cNvPr>
          <p:cNvSpPr>
            <a:spLocks noGrp="1"/>
          </p:cNvSpPr>
          <p:nvPr>
            <p:ph type="ftr" sz="quarter" idx="5"/>
          </p:nvPr>
        </p:nvSpPr>
        <p:spPr/>
        <p:txBody>
          <a:bodyPr/>
          <a:lstStyle/>
          <a:p>
            <a:pPr marL="12700">
              <a:spcBef>
                <a:spcPts val="15"/>
              </a:spcBef>
            </a:pPr>
            <a:r>
              <a:rPr lang="es-CO" spc="-5" noProof="0" dirty="0"/>
              <a:t>LAB 1.0. WAVEGUIDES</a:t>
            </a:r>
          </a:p>
        </p:txBody>
      </p:sp>
      <p:sp>
        <p:nvSpPr>
          <p:cNvPr id="2" name="CuadroTexto 1">
            <a:extLst>
              <a:ext uri="{FF2B5EF4-FFF2-40B4-BE49-F238E27FC236}">
                <a16:creationId xmlns:a16="http://schemas.microsoft.com/office/drawing/2014/main" id="{4F394DDF-3E49-7C28-2005-540B5681A1EB}"/>
              </a:ext>
            </a:extLst>
          </p:cNvPr>
          <p:cNvSpPr txBox="1"/>
          <p:nvPr/>
        </p:nvSpPr>
        <p:spPr>
          <a:xfrm>
            <a:off x="609600"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s-CO" sz="1200" noProof="0" dirty="0" err="1">
                <a:latin typeface="Arial" panose="020B0604020202020204" pitchFamily="34" charset="0"/>
                <a:cs typeface="Arial" panose="020B0604020202020204" pitchFamily="34" charset="0"/>
              </a:rPr>
              <a:t>Comment</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results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which</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is</a:t>
            </a:r>
            <a:r>
              <a:rPr lang="es-CO" sz="1200" noProof="0" dirty="0">
                <a:latin typeface="Arial" panose="020B0604020202020204" pitchFamily="34" charset="0"/>
                <a:cs typeface="Arial" panose="020B0604020202020204" pitchFamily="34" charset="0"/>
              </a:rPr>
              <a:t> the </a:t>
            </a:r>
            <a:r>
              <a:rPr lang="es-CO" sz="1200" noProof="0" dirty="0" err="1">
                <a:latin typeface="Arial" panose="020B0604020202020204" pitchFamily="34" charset="0"/>
                <a:cs typeface="Arial" panose="020B0604020202020204" pitchFamily="34" charset="0"/>
              </a:rPr>
              <a:t>safe</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radius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consider</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safe</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means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less</a:t>
            </a:r>
            <a:r>
              <a:rPr lang="es-CO" sz="1200" noProof="0" dirty="0">
                <a:latin typeface="Arial" panose="020B0604020202020204" pitchFamily="34" charset="0"/>
                <a:cs typeface="Arial" panose="020B0604020202020204" pitchFamily="34" charset="0"/>
              </a:rPr>
              <a:t> </a:t>
            </a:r>
            <a:r>
              <a:rPr lang="es-CO" sz="1200" noProof="0" dirty="0" err="1">
                <a:latin typeface="Arial" panose="020B0604020202020204" pitchFamily="34" charset="0"/>
                <a:cs typeface="Arial" panose="020B0604020202020204" pitchFamily="34" charset="0"/>
              </a:rPr>
              <a:t>than</a:t>
            </a:r>
            <a:r>
              <a:rPr lang="es-CO" sz="1200" noProof="0" dirty="0">
                <a:latin typeface="Arial" panose="020B0604020202020204" pitchFamily="34" charset="0"/>
                <a:cs typeface="Arial" panose="020B0604020202020204" pitchFamily="34" charset="0"/>
              </a:rPr>
              <a:t> 0.1 dB/90º.</a:t>
            </a:r>
          </a:p>
          <a:p>
            <a:pPr algn="just"/>
            <a:endParaRPr lang="es-CO" sz="1200" dirty="0">
              <a:latin typeface="Arial" panose="020B0604020202020204" pitchFamily="34" charset="0"/>
              <a:cs typeface="Arial" panose="020B0604020202020204" pitchFamily="34" charset="0"/>
            </a:endParaRPr>
          </a:p>
          <a:p>
            <a:pPr algn="just"/>
            <a:r>
              <a:rPr lang="es-CO" sz="1200" noProof="0" dirty="0">
                <a:latin typeface="Arial" panose="020B0604020202020204" pitchFamily="34" charset="0"/>
                <a:cs typeface="Arial" panose="020B0604020202020204" pitchFamily="34" charset="0"/>
              </a:rPr>
              <a:t>Ahora, en el caso de  </a:t>
            </a:r>
            <a:r>
              <a:rPr lang="en-US" sz="1200" dirty="0"/>
              <a:t>1.2 um width deep waveguides at 1.5 um, </a:t>
            </a:r>
            <a:r>
              <a:rPr lang="es-CO" sz="1200" noProof="0" dirty="0"/>
              <a:t>el</a:t>
            </a:r>
            <a:r>
              <a:rPr lang="en-US" sz="1200" dirty="0"/>
              <a:t> radio Seguro </a:t>
            </a:r>
            <a:r>
              <a:rPr lang="en-US" sz="1200" dirty="0" err="1"/>
              <a:t>sería</a:t>
            </a:r>
            <a:r>
              <a:rPr lang="en-US" sz="1200" dirty="0"/>
              <a:t> de 85 um </a:t>
            </a:r>
            <a:r>
              <a:rPr lang="en-US" sz="1200" dirty="0" err="1"/>
              <a:t>aproximadamente</a:t>
            </a:r>
            <a:r>
              <a:rPr lang="en-US" sz="1200" dirty="0"/>
              <a:t>, </a:t>
            </a:r>
            <a:r>
              <a:rPr lang="en-US" sz="1200" dirty="0" err="1"/>
              <a:t>este</a:t>
            </a:r>
            <a:r>
              <a:rPr lang="en-US" sz="1200" dirty="0"/>
              <a:t> valor es </a:t>
            </a:r>
            <a:r>
              <a:rPr lang="en-US" sz="1200" dirty="0" err="1"/>
              <a:t>más</a:t>
            </a:r>
            <a:r>
              <a:rPr lang="en-US" sz="1200" dirty="0"/>
              <a:t> grande </a:t>
            </a:r>
            <a:r>
              <a:rPr lang="en-US" sz="1200" dirty="0" err="1"/>
              <a:t>que</a:t>
            </a:r>
            <a:r>
              <a:rPr lang="en-US" sz="1200" dirty="0"/>
              <a:t> </a:t>
            </a:r>
            <a:r>
              <a:rPr lang="en-US" sz="1200" dirty="0" err="1"/>
              <a:t>en</a:t>
            </a:r>
            <a:r>
              <a:rPr lang="en-US" sz="1200" dirty="0"/>
              <a:t> </a:t>
            </a:r>
            <a:r>
              <a:rPr lang="en-US" sz="1200" dirty="0" err="1"/>
              <a:t>el</a:t>
            </a:r>
            <a:r>
              <a:rPr lang="en-US" sz="1200" dirty="0"/>
              <a:t> </a:t>
            </a:r>
            <a:r>
              <a:rPr lang="en-US" sz="1200" dirty="0" err="1"/>
              <a:t>caso</a:t>
            </a:r>
            <a:r>
              <a:rPr lang="en-US" sz="1200" dirty="0"/>
              <a:t> anterior </a:t>
            </a:r>
            <a:r>
              <a:rPr lang="en-US" sz="1200" dirty="0" err="1"/>
              <a:t>que</a:t>
            </a:r>
            <a:r>
              <a:rPr lang="en-US" sz="1200" dirty="0"/>
              <a:t> </a:t>
            </a:r>
            <a:r>
              <a:rPr lang="en-US" sz="1200" dirty="0" err="1"/>
              <a:t>teniamos</a:t>
            </a:r>
            <a:r>
              <a:rPr lang="en-US" sz="1200" dirty="0"/>
              <a:t> un radio de 65 um. Esta </a:t>
            </a:r>
            <a:r>
              <a:rPr lang="en-US" sz="1200" dirty="0" err="1"/>
              <a:t>diferencia</a:t>
            </a:r>
            <a:r>
              <a:rPr lang="en-US" sz="1200" dirty="0"/>
              <a:t> </a:t>
            </a:r>
            <a:r>
              <a:rPr lang="en-US" sz="1200" dirty="0" err="1"/>
              <a:t>puede</a:t>
            </a:r>
            <a:r>
              <a:rPr lang="en-US" sz="1200" dirty="0"/>
              <a:t> </a:t>
            </a:r>
            <a:r>
              <a:rPr lang="en-US" sz="1200" dirty="0" err="1"/>
              <a:t>estar</a:t>
            </a:r>
            <a:r>
              <a:rPr lang="en-US" sz="1200" dirty="0"/>
              <a:t> dada tanto </a:t>
            </a:r>
            <a:r>
              <a:rPr lang="en-US" sz="1200" dirty="0" err="1"/>
              <a:t>por</a:t>
            </a:r>
            <a:r>
              <a:rPr lang="en-US" sz="1200" dirty="0"/>
              <a:t> </a:t>
            </a:r>
            <a:r>
              <a:rPr lang="en-US" sz="1200" dirty="0" err="1"/>
              <a:t>el</a:t>
            </a:r>
            <a:r>
              <a:rPr lang="en-US" sz="1200" dirty="0"/>
              <a:t> </a:t>
            </a:r>
            <a:r>
              <a:rPr lang="en-US" sz="1200" dirty="0" err="1"/>
              <a:t>cambio</a:t>
            </a:r>
            <a:r>
              <a:rPr lang="en-US" sz="1200" dirty="0"/>
              <a:t> de longitude de </a:t>
            </a:r>
            <a:r>
              <a:rPr lang="en-US" sz="1200" dirty="0" err="1"/>
              <a:t>onda</a:t>
            </a:r>
            <a:r>
              <a:rPr lang="en-US" sz="1200" dirty="0"/>
              <a:t> </a:t>
            </a:r>
            <a:r>
              <a:rPr lang="en-US" sz="1200" dirty="0" err="1"/>
              <a:t>como</a:t>
            </a:r>
            <a:r>
              <a:rPr lang="en-US" sz="1200" dirty="0"/>
              <a:t> de </a:t>
            </a:r>
            <a:r>
              <a:rPr lang="en-US" sz="1200" dirty="0" err="1"/>
              <a:t>aumentar</a:t>
            </a:r>
            <a:r>
              <a:rPr lang="en-US" sz="1200" dirty="0"/>
              <a:t> </a:t>
            </a:r>
            <a:r>
              <a:rPr lang="en-US" sz="1200" dirty="0" err="1"/>
              <a:t>el</a:t>
            </a:r>
            <a:r>
              <a:rPr lang="en-US" sz="1200" dirty="0"/>
              <a:t> ancho del core. </a:t>
            </a:r>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091E93B1-6CD6-C0A3-B44D-A07D8C741DC5}"/>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7706F372-2C0E-8BC9-CCBF-ACCD917802CA}"/>
                  </a:ext>
                </a:extLst>
              </p:cNvPr>
              <p:cNvSpPr txBox="1"/>
              <p:nvPr/>
            </p:nvSpPr>
            <p:spPr>
              <a:xfrm>
                <a:off x="9914680" y="4262088"/>
                <a:ext cx="1856534" cy="439608"/>
              </a:xfrm>
              <a:prstGeom prst="rect">
                <a:avLst/>
              </a:prstGeom>
              <a:noFill/>
            </p:spPr>
            <p:txBody>
              <a:bodyPr wrap="none" lIns="0" tIns="0" rIns="0" bIns="0" rtlCol="0">
                <a:spAutoFit/>
              </a:bodyPr>
              <a:lstStyle/>
              <a:p>
                <a14:m>
                  <m:oMath xmlns:m="http://schemas.openxmlformats.org/officeDocument/2006/math">
                    <m:r>
                      <a:rPr lang="es-CO" sz="1800" b="0" i="1" noProof="0" smtClean="0">
                        <a:latin typeface="Cambria Math" panose="02040503050406030204" pitchFamily="18" charset="0"/>
                      </a:rPr>
                      <m:t>𝛼</m:t>
                    </m:r>
                    <m:d>
                      <m:dPr>
                        <m:begChr m:val="["/>
                        <m:endChr m:val="]"/>
                        <m:ctrlPr>
                          <a:rPr lang="es-CO" sz="1800" b="0" i="1" noProof="0" smtClean="0">
                            <a:latin typeface="Cambria Math" panose="02040503050406030204" pitchFamily="18" charset="0"/>
                          </a:rPr>
                        </m:ctrlPr>
                      </m:dPr>
                      <m:e>
                        <m:f>
                          <m:fPr>
                            <m:ctrlPr>
                              <a:rPr lang="es-CO" sz="1800" b="0" i="1" noProof="0" smtClean="0">
                                <a:latin typeface="Cambria Math" panose="02040503050406030204" pitchFamily="18" charset="0"/>
                              </a:rPr>
                            </m:ctrlPr>
                          </m:fPr>
                          <m:num>
                            <m:r>
                              <a:rPr lang="es-CO" sz="1800" b="0" i="1" noProof="0" smtClean="0">
                                <a:latin typeface="Cambria Math" panose="02040503050406030204" pitchFamily="18" charset="0"/>
                              </a:rPr>
                              <m:t>𝑑𝐵</m:t>
                            </m:r>
                          </m:num>
                          <m:den>
                            <m:r>
                              <a:rPr lang="es-CO" sz="1800" b="0" i="1" noProof="0" smtClean="0">
                                <a:latin typeface="Cambria Math" panose="02040503050406030204" pitchFamily="18" charset="0"/>
                              </a:rPr>
                              <m:t>90</m:t>
                            </m:r>
                            <m:r>
                              <a:rPr lang="es-CO" sz="1800" b="0" i="1" noProof="0" smtClean="0">
                                <a:latin typeface="Cambria Math" panose="02040503050406030204" pitchFamily="18" charset="0"/>
                                <a:ea typeface="Cambria Math" panose="02040503050406030204" pitchFamily="18" charset="0"/>
                              </a:rPr>
                              <m:t>°</m:t>
                            </m:r>
                          </m:den>
                        </m:f>
                      </m:e>
                    </m:d>
                    <m:r>
                      <a:rPr lang="es-CO" sz="1800" b="0" i="1" noProof="0" smtClean="0">
                        <a:latin typeface="Cambria Math" panose="02040503050406030204" pitchFamily="18" charset="0"/>
                      </a:rPr>
                      <m:t>=</m:t>
                    </m:r>
                  </m:oMath>
                </a14:m>
                <a:r>
                  <a:rPr lang="es-CO" sz="1800" noProof="0" dirty="0"/>
                  <a:t> </a:t>
                </a:r>
                <a14:m>
                  <m:oMath xmlns:m="http://schemas.openxmlformats.org/officeDocument/2006/math">
                    <m:r>
                      <m:rPr>
                        <m:sty m:val="p"/>
                      </m:rPr>
                      <a:rPr lang="es-CO" sz="1800" b="0" i="0" noProof="0" smtClean="0">
                        <a:latin typeface="Cambria Math" panose="02040503050406030204" pitchFamily="18" charset="0"/>
                      </a:rPr>
                      <m:t>R</m:t>
                    </m:r>
                    <m:f>
                      <m:fPr>
                        <m:ctrlPr>
                          <a:rPr lang="es-CO" sz="1800" b="0" i="1" noProof="0" smtClean="0">
                            <a:latin typeface="Cambria Math" panose="02040503050406030204" pitchFamily="18" charset="0"/>
                          </a:rPr>
                        </m:ctrlPr>
                      </m:fPr>
                      <m:num>
                        <m:r>
                          <a:rPr lang="es-CO" sz="1800" b="0" i="1" noProof="0" smtClean="0">
                            <a:latin typeface="Cambria Math" panose="02040503050406030204" pitchFamily="18" charset="0"/>
                          </a:rPr>
                          <m:t>𝜋</m:t>
                        </m:r>
                      </m:num>
                      <m:den>
                        <m:r>
                          <a:rPr lang="es-CO" sz="1800" b="0" i="1" noProof="0" smtClean="0">
                            <a:latin typeface="Cambria Math" panose="02040503050406030204" pitchFamily="18" charset="0"/>
                          </a:rPr>
                          <m:t>2</m:t>
                        </m:r>
                      </m:den>
                    </m:f>
                    <m:r>
                      <a:rPr lang="es-CO" sz="1800" i="1" noProof="0" smtClean="0">
                        <a:latin typeface="Cambria Math" panose="02040503050406030204" pitchFamily="18" charset="0"/>
                      </a:rPr>
                      <m:t>𝛼</m:t>
                    </m:r>
                    <m:d>
                      <m:dPr>
                        <m:begChr m:val="["/>
                        <m:endChr m:val="]"/>
                        <m:ctrlPr>
                          <a:rPr lang="es-CO" sz="1800" i="1" noProof="0" smtClean="0">
                            <a:latin typeface="Cambria Math" panose="02040503050406030204" pitchFamily="18" charset="0"/>
                          </a:rPr>
                        </m:ctrlPr>
                      </m:dPr>
                      <m:e>
                        <m:f>
                          <m:fPr>
                            <m:ctrlPr>
                              <a:rPr lang="es-CO" sz="1800" i="1" noProof="0" smtClean="0">
                                <a:latin typeface="Cambria Math" panose="02040503050406030204" pitchFamily="18" charset="0"/>
                              </a:rPr>
                            </m:ctrlPr>
                          </m:fPr>
                          <m:num>
                            <m:r>
                              <a:rPr lang="es-CO" sz="1800" i="1" noProof="0" smtClean="0">
                                <a:latin typeface="Cambria Math" panose="02040503050406030204" pitchFamily="18" charset="0"/>
                              </a:rPr>
                              <m:t>𝑑𝐵</m:t>
                            </m:r>
                          </m:num>
                          <m:den>
                            <m:r>
                              <a:rPr lang="es-CO" sz="1800" i="1" noProof="0" smtClean="0">
                                <a:latin typeface="Cambria Math" panose="02040503050406030204" pitchFamily="18" charset="0"/>
                              </a:rPr>
                              <m:t>µ</m:t>
                            </m:r>
                            <m:r>
                              <a:rPr lang="es-CO" sz="1800" i="1" noProof="0" smtClean="0">
                                <a:latin typeface="Cambria Math" panose="02040503050406030204" pitchFamily="18" charset="0"/>
                              </a:rPr>
                              <m:t>𝑚</m:t>
                            </m:r>
                          </m:den>
                        </m:f>
                      </m:e>
                    </m:d>
                  </m:oMath>
                </a14:m>
                <a:endParaRPr lang="es-CO" sz="1800" noProof="0" dirty="0"/>
              </a:p>
            </p:txBody>
          </p:sp>
        </mc:Choice>
        <mc:Fallback xmlns="">
          <p:sp>
            <p:nvSpPr>
              <p:cNvPr id="13" name="CuadroTexto 12">
                <a:extLst>
                  <a:ext uri="{FF2B5EF4-FFF2-40B4-BE49-F238E27FC236}">
                    <a16:creationId xmlns:a16="http://schemas.microsoft.com/office/drawing/2014/main" id="{7706F372-2C0E-8BC9-CCBF-ACCD917802CA}"/>
                  </a:ext>
                </a:extLst>
              </p:cNvPr>
              <p:cNvSpPr txBox="1">
                <a:spLocks noRot="1" noChangeAspect="1" noMove="1" noResize="1" noEditPoints="1" noAdjustHandles="1" noChangeArrowheads="1" noChangeShapeType="1" noTextEdit="1"/>
              </p:cNvSpPr>
              <p:nvPr/>
            </p:nvSpPr>
            <p:spPr>
              <a:xfrm>
                <a:off x="9914680" y="4262088"/>
                <a:ext cx="1856534" cy="439608"/>
              </a:xfrm>
              <a:prstGeom prst="rect">
                <a:avLst/>
              </a:prstGeom>
              <a:blipFill>
                <a:blip r:embed="rId5"/>
                <a:stretch>
                  <a:fillRect l="-3279" b="-13889"/>
                </a:stretch>
              </a:blipFill>
            </p:spPr>
            <p:txBody>
              <a:bodyPr/>
              <a:lstStyle/>
              <a:p>
                <a:r>
                  <a:rPr lang="es-CO">
                    <a:noFill/>
                  </a:rPr>
                  <a:t> </a:t>
                </a:r>
              </a:p>
            </p:txBody>
          </p:sp>
        </mc:Fallback>
      </mc:AlternateContent>
      <p:pic>
        <p:nvPicPr>
          <p:cNvPr id="5" name="Imagen 4">
            <a:extLst>
              <a:ext uri="{FF2B5EF4-FFF2-40B4-BE49-F238E27FC236}">
                <a16:creationId xmlns:a16="http://schemas.microsoft.com/office/drawing/2014/main" id="{8B8FE707-4743-4A7D-888C-FAB5F90AB6F4}"/>
              </a:ext>
            </a:extLst>
          </p:cNvPr>
          <p:cNvPicPr>
            <a:picLocks noChangeAspect="1"/>
          </p:cNvPicPr>
          <p:nvPr/>
        </p:nvPicPr>
        <p:blipFill>
          <a:blip r:embed="rId6"/>
          <a:stretch>
            <a:fillRect/>
          </a:stretch>
        </p:blipFill>
        <p:spPr>
          <a:xfrm>
            <a:off x="2351455" y="1654036"/>
            <a:ext cx="3715516" cy="2880000"/>
          </a:xfrm>
          <a:prstGeom prst="rect">
            <a:avLst/>
          </a:prstGeom>
        </p:spPr>
      </p:pic>
      <p:pic>
        <p:nvPicPr>
          <p:cNvPr id="8" name="Imagen 7">
            <a:extLst>
              <a:ext uri="{FF2B5EF4-FFF2-40B4-BE49-F238E27FC236}">
                <a16:creationId xmlns:a16="http://schemas.microsoft.com/office/drawing/2014/main" id="{D535B5E8-833B-E6B5-F629-45CC37AFEB71}"/>
              </a:ext>
            </a:extLst>
          </p:cNvPr>
          <p:cNvPicPr>
            <a:picLocks noChangeAspect="1"/>
          </p:cNvPicPr>
          <p:nvPr/>
        </p:nvPicPr>
        <p:blipFill>
          <a:blip r:embed="rId7"/>
          <a:stretch>
            <a:fillRect/>
          </a:stretch>
        </p:blipFill>
        <p:spPr>
          <a:xfrm>
            <a:off x="6212331" y="1654036"/>
            <a:ext cx="3645890" cy="2880000"/>
          </a:xfrm>
          <a:prstGeom prst="rect">
            <a:avLst/>
          </a:prstGeom>
        </p:spPr>
      </p:pic>
    </p:spTree>
    <p:extLst>
      <p:ext uri="{BB962C8B-B14F-4D97-AF65-F5344CB8AC3E}">
        <p14:creationId xmlns:p14="http://schemas.microsoft.com/office/powerpoint/2010/main" val="33826752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D5949-F2F7-449F-DD5C-3A4C043E1BD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7235206-39C4-28CB-0981-2A9F452326C1}"/>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s-CO" sz="2500" noProof="0" dirty="0" err="1"/>
              <a:t>Learning</a:t>
            </a:r>
            <a:r>
              <a:rPr lang="es-CO" sz="2500" noProof="0" dirty="0"/>
              <a:t> </a:t>
            </a:r>
            <a:r>
              <a:rPr lang="es-CO" sz="2500" noProof="0" dirty="0" err="1"/>
              <a:t>outcome</a:t>
            </a:r>
            <a:r>
              <a:rPr lang="es-CO" sz="2500" noProof="0" dirty="0"/>
              <a:t> #4 – Bend </a:t>
            </a:r>
            <a:r>
              <a:rPr lang="es-CO" sz="2500" noProof="0" dirty="0" err="1"/>
              <a:t>waveguide</a:t>
            </a:r>
            <a:r>
              <a:rPr lang="es-CO" sz="2500" noProof="0" dirty="0"/>
              <a:t> </a:t>
            </a:r>
            <a:r>
              <a:rPr lang="es-CO" sz="2500" noProof="0" dirty="0" err="1"/>
              <a:t>radius</a:t>
            </a:r>
            <a:r>
              <a:rPr lang="es-CO" sz="2500" noProof="0" dirty="0"/>
              <a:t> vs. </a:t>
            </a:r>
            <a:r>
              <a:rPr lang="es-CO" sz="2500" noProof="0" dirty="0" err="1"/>
              <a:t>loss</a:t>
            </a:r>
            <a:r>
              <a:rPr lang="es-CO" sz="2500" noProof="0" dirty="0"/>
              <a:t> – </a:t>
            </a:r>
            <a:r>
              <a:rPr lang="es-CO" sz="2500" noProof="0" dirty="0" err="1"/>
              <a:t>deep</a:t>
            </a:r>
            <a:br>
              <a:rPr lang="es-CO" sz="2500" noProof="0" dirty="0"/>
            </a:br>
            <a:r>
              <a:rPr lang="en-US" b="0" dirty="0"/>
              <a:t>Use the code provided in this section to calculate the safe radius for 0.5 um width deep waveguides at 1.55 um – Silicon On Insulator</a:t>
            </a:r>
            <a:br>
              <a:rPr lang="en-US" b="0" dirty="0"/>
            </a:br>
            <a:br>
              <a:rPr lang="es-CO" sz="2500" noProof="0" dirty="0"/>
            </a:br>
            <a:endParaRPr lang="es-CO" sz="2500" b="0" noProof="0" dirty="0">
              <a:latin typeface="+mj-lt"/>
              <a:cs typeface="Lucida Sans"/>
            </a:endParaRPr>
          </a:p>
        </p:txBody>
      </p:sp>
      <p:pic>
        <p:nvPicPr>
          <p:cNvPr id="83" name="Gráfico 82">
            <a:extLst>
              <a:ext uri="{FF2B5EF4-FFF2-40B4-BE49-F238E27FC236}">
                <a16:creationId xmlns:a16="http://schemas.microsoft.com/office/drawing/2014/main" id="{6493B621-2DF2-6BF7-943C-B121FC3DF54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C27BEF8-E1D8-3C91-69C4-6DD343309B15}"/>
              </a:ext>
            </a:extLst>
          </p:cNvPr>
          <p:cNvSpPr>
            <a:spLocks noGrp="1"/>
          </p:cNvSpPr>
          <p:nvPr>
            <p:ph type="sldNum" sz="quarter" idx="7"/>
          </p:nvPr>
        </p:nvSpPr>
        <p:spPr/>
        <p:txBody>
          <a:bodyPr/>
          <a:lstStyle/>
          <a:p>
            <a:fld id="{B6F15528-21DE-4FAA-801E-634DDDAF4B2B}" type="slidenum">
              <a:rPr lang="es-CO" noProof="0" smtClean="0"/>
              <a:t>11</a:t>
            </a:fld>
            <a:endParaRPr lang="es-CO" noProof="0" dirty="0"/>
          </a:p>
        </p:txBody>
      </p:sp>
      <p:sp>
        <p:nvSpPr>
          <p:cNvPr id="3" name="Marcador de pie de página 2">
            <a:extLst>
              <a:ext uri="{FF2B5EF4-FFF2-40B4-BE49-F238E27FC236}">
                <a16:creationId xmlns:a16="http://schemas.microsoft.com/office/drawing/2014/main" id="{668090AA-330E-E7F9-A461-09631B42DFDE}"/>
              </a:ext>
            </a:extLst>
          </p:cNvPr>
          <p:cNvSpPr>
            <a:spLocks noGrp="1"/>
          </p:cNvSpPr>
          <p:nvPr>
            <p:ph type="ftr" sz="quarter" idx="5"/>
          </p:nvPr>
        </p:nvSpPr>
        <p:spPr/>
        <p:txBody>
          <a:bodyPr/>
          <a:lstStyle/>
          <a:p>
            <a:pPr marL="12700">
              <a:spcBef>
                <a:spcPts val="15"/>
              </a:spcBef>
            </a:pPr>
            <a:r>
              <a:rPr lang="es-CO" spc="-5" noProof="0" dirty="0"/>
              <a:t>LAB 1.0. WAVEGUIDES</a:t>
            </a:r>
          </a:p>
        </p:txBody>
      </p:sp>
      <p:sp>
        <p:nvSpPr>
          <p:cNvPr id="2" name="CuadroTexto 1">
            <a:extLst>
              <a:ext uri="{FF2B5EF4-FFF2-40B4-BE49-F238E27FC236}">
                <a16:creationId xmlns:a16="http://schemas.microsoft.com/office/drawing/2014/main" id="{CEC17DC9-1A15-35EE-E65B-D7ADDCCAF880}"/>
              </a:ext>
            </a:extLst>
          </p:cNvPr>
          <p:cNvSpPr txBox="1"/>
          <p:nvPr/>
        </p:nvSpPr>
        <p:spPr>
          <a:xfrm>
            <a:off x="609600"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noProof="0" dirty="0">
                <a:latin typeface="Arial" panose="020B0604020202020204" pitchFamily="34" charset="0"/>
                <a:cs typeface="Arial" panose="020B0604020202020204" pitchFamily="34" charset="0"/>
              </a:rPr>
              <a:t>En este caso que es el de SOI, vemos que un radio seguro sería alrededor de los 15 </a:t>
            </a:r>
            <a:r>
              <a:rPr lang="es-ES" sz="1200" noProof="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lo cual es bastante pequeño a comparación de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que era a los 65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reduciéndose este radio 4.3 veces. Por lo que el SOI es una tecnología que nos permite hacer curvaturas más pequeñas y a su vez circuitos integrados más pequeños, al poder optimizar mejor las curvaturas, aunque también hay que tener cuidado, porque entre más grande la curvatura, más perdidas se tendrán, aunque también se tienen muchas menos perdidas en cuanto a dB, esto porque al ser una tecnología más pequeña, y ser radios más pequeños, las perdidas de propagación serán menores. </a:t>
            </a:r>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a:p>
            <a:pPr algn="just"/>
            <a:endParaRPr lang="es-CO" sz="1200" noProof="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87D2B385-CC1F-9E83-99FF-D4FC9F1F28BC}"/>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noProof="0" dirty="0"/>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124D1D9F-D05A-A589-58DD-B4240144B54E}"/>
                  </a:ext>
                </a:extLst>
              </p:cNvPr>
              <p:cNvSpPr txBox="1"/>
              <p:nvPr/>
            </p:nvSpPr>
            <p:spPr>
              <a:xfrm>
                <a:off x="9914680" y="4262088"/>
                <a:ext cx="1856534" cy="439608"/>
              </a:xfrm>
              <a:prstGeom prst="rect">
                <a:avLst/>
              </a:prstGeom>
              <a:noFill/>
            </p:spPr>
            <p:txBody>
              <a:bodyPr wrap="none" lIns="0" tIns="0" rIns="0" bIns="0" rtlCol="0">
                <a:spAutoFit/>
              </a:bodyPr>
              <a:lstStyle/>
              <a:p>
                <a14:m>
                  <m:oMath xmlns:m="http://schemas.openxmlformats.org/officeDocument/2006/math">
                    <m:r>
                      <a:rPr lang="es-CO" sz="1800" b="0" i="1" noProof="0" smtClean="0">
                        <a:latin typeface="Cambria Math" panose="02040503050406030204" pitchFamily="18" charset="0"/>
                      </a:rPr>
                      <m:t>𝛼</m:t>
                    </m:r>
                    <m:d>
                      <m:dPr>
                        <m:begChr m:val="["/>
                        <m:endChr m:val="]"/>
                        <m:ctrlPr>
                          <a:rPr lang="es-CO" sz="1800" b="0" i="1" noProof="0" smtClean="0">
                            <a:latin typeface="Cambria Math" panose="02040503050406030204" pitchFamily="18" charset="0"/>
                          </a:rPr>
                        </m:ctrlPr>
                      </m:dPr>
                      <m:e>
                        <m:f>
                          <m:fPr>
                            <m:ctrlPr>
                              <a:rPr lang="es-CO" sz="1800" b="0" i="1" noProof="0" smtClean="0">
                                <a:latin typeface="Cambria Math" panose="02040503050406030204" pitchFamily="18" charset="0"/>
                              </a:rPr>
                            </m:ctrlPr>
                          </m:fPr>
                          <m:num>
                            <m:r>
                              <a:rPr lang="es-CO" sz="1800" b="0" i="1" noProof="0" smtClean="0">
                                <a:latin typeface="Cambria Math" panose="02040503050406030204" pitchFamily="18" charset="0"/>
                              </a:rPr>
                              <m:t>𝑑𝐵</m:t>
                            </m:r>
                          </m:num>
                          <m:den>
                            <m:r>
                              <a:rPr lang="es-CO" sz="1800" b="0" i="1" noProof="0" smtClean="0">
                                <a:latin typeface="Cambria Math" panose="02040503050406030204" pitchFamily="18" charset="0"/>
                              </a:rPr>
                              <m:t>90</m:t>
                            </m:r>
                            <m:r>
                              <a:rPr lang="es-CO" sz="1800" b="0" i="1" noProof="0" smtClean="0">
                                <a:latin typeface="Cambria Math" panose="02040503050406030204" pitchFamily="18" charset="0"/>
                                <a:ea typeface="Cambria Math" panose="02040503050406030204" pitchFamily="18" charset="0"/>
                              </a:rPr>
                              <m:t>°</m:t>
                            </m:r>
                          </m:den>
                        </m:f>
                      </m:e>
                    </m:d>
                    <m:r>
                      <a:rPr lang="es-CO" sz="1800" b="0" i="1" noProof="0" smtClean="0">
                        <a:latin typeface="Cambria Math" panose="02040503050406030204" pitchFamily="18" charset="0"/>
                      </a:rPr>
                      <m:t>=</m:t>
                    </m:r>
                  </m:oMath>
                </a14:m>
                <a:r>
                  <a:rPr lang="es-CO" sz="1800" noProof="0" dirty="0"/>
                  <a:t> </a:t>
                </a:r>
                <a14:m>
                  <m:oMath xmlns:m="http://schemas.openxmlformats.org/officeDocument/2006/math">
                    <m:r>
                      <m:rPr>
                        <m:sty m:val="p"/>
                      </m:rPr>
                      <a:rPr lang="es-CO" sz="1800" b="0" i="0" noProof="0" smtClean="0">
                        <a:latin typeface="Cambria Math" panose="02040503050406030204" pitchFamily="18" charset="0"/>
                      </a:rPr>
                      <m:t>R</m:t>
                    </m:r>
                    <m:f>
                      <m:fPr>
                        <m:ctrlPr>
                          <a:rPr lang="es-CO" sz="1800" b="0" i="1" noProof="0" smtClean="0">
                            <a:latin typeface="Cambria Math" panose="02040503050406030204" pitchFamily="18" charset="0"/>
                          </a:rPr>
                        </m:ctrlPr>
                      </m:fPr>
                      <m:num>
                        <m:r>
                          <a:rPr lang="es-CO" sz="1800" b="0" i="1" noProof="0" smtClean="0">
                            <a:latin typeface="Cambria Math" panose="02040503050406030204" pitchFamily="18" charset="0"/>
                          </a:rPr>
                          <m:t>𝜋</m:t>
                        </m:r>
                      </m:num>
                      <m:den>
                        <m:r>
                          <a:rPr lang="es-CO" sz="1800" b="0" i="1" noProof="0" smtClean="0">
                            <a:latin typeface="Cambria Math" panose="02040503050406030204" pitchFamily="18" charset="0"/>
                          </a:rPr>
                          <m:t>2</m:t>
                        </m:r>
                      </m:den>
                    </m:f>
                    <m:r>
                      <a:rPr lang="es-CO" sz="1800" i="1" noProof="0" smtClean="0">
                        <a:latin typeface="Cambria Math" panose="02040503050406030204" pitchFamily="18" charset="0"/>
                      </a:rPr>
                      <m:t>𝛼</m:t>
                    </m:r>
                    <m:d>
                      <m:dPr>
                        <m:begChr m:val="["/>
                        <m:endChr m:val="]"/>
                        <m:ctrlPr>
                          <a:rPr lang="es-CO" sz="1800" i="1" noProof="0" smtClean="0">
                            <a:latin typeface="Cambria Math" panose="02040503050406030204" pitchFamily="18" charset="0"/>
                          </a:rPr>
                        </m:ctrlPr>
                      </m:dPr>
                      <m:e>
                        <m:f>
                          <m:fPr>
                            <m:ctrlPr>
                              <a:rPr lang="es-CO" sz="1800" i="1" noProof="0" smtClean="0">
                                <a:latin typeface="Cambria Math" panose="02040503050406030204" pitchFamily="18" charset="0"/>
                              </a:rPr>
                            </m:ctrlPr>
                          </m:fPr>
                          <m:num>
                            <m:r>
                              <a:rPr lang="es-CO" sz="1800" i="1" noProof="0" smtClean="0">
                                <a:latin typeface="Cambria Math" panose="02040503050406030204" pitchFamily="18" charset="0"/>
                              </a:rPr>
                              <m:t>𝑑𝐵</m:t>
                            </m:r>
                          </m:num>
                          <m:den>
                            <m:r>
                              <a:rPr lang="es-CO" sz="1800" i="1" noProof="0" smtClean="0">
                                <a:latin typeface="Cambria Math" panose="02040503050406030204" pitchFamily="18" charset="0"/>
                              </a:rPr>
                              <m:t>µ</m:t>
                            </m:r>
                            <m:r>
                              <a:rPr lang="es-CO" sz="1800" i="1" noProof="0" smtClean="0">
                                <a:latin typeface="Cambria Math" panose="02040503050406030204" pitchFamily="18" charset="0"/>
                              </a:rPr>
                              <m:t>𝑚</m:t>
                            </m:r>
                          </m:den>
                        </m:f>
                      </m:e>
                    </m:d>
                  </m:oMath>
                </a14:m>
                <a:endParaRPr lang="es-CO" sz="1800" noProof="0" dirty="0"/>
              </a:p>
            </p:txBody>
          </p:sp>
        </mc:Choice>
        <mc:Fallback xmlns="">
          <p:sp>
            <p:nvSpPr>
              <p:cNvPr id="13" name="CuadroTexto 12">
                <a:extLst>
                  <a:ext uri="{FF2B5EF4-FFF2-40B4-BE49-F238E27FC236}">
                    <a16:creationId xmlns:a16="http://schemas.microsoft.com/office/drawing/2014/main" id="{124D1D9F-D05A-A589-58DD-B4240144B54E}"/>
                  </a:ext>
                </a:extLst>
              </p:cNvPr>
              <p:cNvSpPr txBox="1">
                <a:spLocks noRot="1" noChangeAspect="1" noMove="1" noResize="1" noEditPoints="1" noAdjustHandles="1" noChangeArrowheads="1" noChangeShapeType="1" noTextEdit="1"/>
              </p:cNvSpPr>
              <p:nvPr/>
            </p:nvSpPr>
            <p:spPr>
              <a:xfrm>
                <a:off x="9914680" y="4262088"/>
                <a:ext cx="1856534" cy="439608"/>
              </a:xfrm>
              <a:prstGeom prst="rect">
                <a:avLst/>
              </a:prstGeom>
              <a:blipFill>
                <a:blip r:embed="rId5"/>
                <a:stretch>
                  <a:fillRect l="-3279" b="-13889"/>
                </a:stretch>
              </a:blipFill>
            </p:spPr>
            <p:txBody>
              <a:bodyPr/>
              <a:lstStyle/>
              <a:p>
                <a:r>
                  <a:rPr lang="es-CO">
                    <a:noFill/>
                  </a:rPr>
                  <a:t> </a:t>
                </a:r>
              </a:p>
            </p:txBody>
          </p:sp>
        </mc:Fallback>
      </mc:AlternateContent>
      <p:pic>
        <p:nvPicPr>
          <p:cNvPr id="6" name="Imagen 5">
            <a:extLst>
              <a:ext uri="{FF2B5EF4-FFF2-40B4-BE49-F238E27FC236}">
                <a16:creationId xmlns:a16="http://schemas.microsoft.com/office/drawing/2014/main" id="{0FDB1000-4638-74B8-B030-F4594425D366}"/>
              </a:ext>
            </a:extLst>
          </p:cNvPr>
          <p:cNvPicPr>
            <a:picLocks noChangeAspect="1"/>
          </p:cNvPicPr>
          <p:nvPr/>
        </p:nvPicPr>
        <p:blipFill>
          <a:blip r:embed="rId6"/>
          <a:stretch>
            <a:fillRect/>
          </a:stretch>
        </p:blipFill>
        <p:spPr>
          <a:xfrm>
            <a:off x="2057400" y="1558540"/>
            <a:ext cx="3804132" cy="2880000"/>
          </a:xfrm>
          <a:prstGeom prst="rect">
            <a:avLst/>
          </a:prstGeom>
        </p:spPr>
      </p:pic>
      <p:pic>
        <p:nvPicPr>
          <p:cNvPr id="10" name="Imagen 9">
            <a:extLst>
              <a:ext uri="{FF2B5EF4-FFF2-40B4-BE49-F238E27FC236}">
                <a16:creationId xmlns:a16="http://schemas.microsoft.com/office/drawing/2014/main" id="{9B9CB922-B8F3-30F5-422A-60F24987EAA8}"/>
              </a:ext>
            </a:extLst>
          </p:cNvPr>
          <p:cNvPicPr>
            <a:picLocks noChangeAspect="1"/>
          </p:cNvPicPr>
          <p:nvPr/>
        </p:nvPicPr>
        <p:blipFill>
          <a:blip r:embed="rId7"/>
          <a:stretch>
            <a:fillRect/>
          </a:stretch>
        </p:blipFill>
        <p:spPr>
          <a:xfrm>
            <a:off x="6096000" y="1556931"/>
            <a:ext cx="3728176" cy="2880000"/>
          </a:xfrm>
          <a:prstGeom prst="rect">
            <a:avLst/>
          </a:prstGeom>
        </p:spPr>
      </p:pic>
    </p:spTree>
    <p:extLst>
      <p:ext uri="{BB962C8B-B14F-4D97-AF65-F5344CB8AC3E}">
        <p14:creationId xmlns:p14="http://schemas.microsoft.com/office/powerpoint/2010/main" val="32924494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828</TotalTime>
  <Words>2267</Words>
  <Application>Microsoft Office PowerPoint</Application>
  <PresentationFormat>Panorámica</PresentationFormat>
  <Paragraphs>141</Paragraphs>
  <Slides>12</Slides>
  <Notes>9</Notes>
  <HiddenSlides>0</HiddenSlides>
  <MMClips>0</MMClips>
  <ScaleCrop>false</ScaleCrop>
  <HeadingPairs>
    <vt:vector size="8" baseType="variant">
      <vt:variant>
        <vt:lpstr>Fuentes usadas</vt:lpstr>
      </vt:variant>
      <vt:variant>
        <vt:i4>7</vt:i4>
      </vt:variant>
      <vt:variant>
        <vt:lpstr>Tema</vt:lpstr>
      </vt:variant>
      <vt:variant>
        <vt:i4>1</vt:i4>
      </vt:variant>
      <vt:variant>
        <vt:lpstr>Servidores OLE incrustados</vt:lpstr>
      </vt:variant>
      <vt:variant>
        <vt:i4>1</vt:i4>
      </vt:variant>
      <vt:variant>
        <vt:lpstr>Títulos de diapositiva</vt:lpstr>
      </vt:variant>
      <vt:variant>
        <vt:i4>12</vt:i4>
      </vt:variant>
    </vt:vector>
  </HeadingPairs>
  <TitlesOfParts>
    <vt:vector size="21" baseType="lpstr">
      <vt:lpstr>Aptos</vt:lpstr>
      <vt:lpstr>Arial</vt:lpstr>
      <vt:lpstr>Calibri</vt:lpstr>
      <vt:lpstr>Cambria Math</vt:lpstr>
      <vt:lpstr>Lucida Sans</vt:lpstr>
      <vt:lpstr>Times New Roman</vt:lpstr>
      <vt:lpstr>Wingdings</vt:lpstr>
      <vt:lpstr>Office Theme</vt:lpstr>
      <vt:lpstr>Worksheet</vt:lpstr>
      <vt:lpstr>Presentación de PowerPoint</vt:lpstr>
      <vt:lpstr>Instructions General</vt:lpstr>
      <vt:lpstr>Learning outcome #1 – Convergence tests DE waveguide, w = 1.2 µm, neff_TE0, wvl 1.55 µm. </vt:lpstr>
      <vt:lpstr>Learning outcome #1 – Convergence tests DE waveguide, w = 0.5 µm, neff_TE0, wvl 1.55 µm.  Silicon On Insulator</vt:lpstr>
      <vt:lpstr>Learning outcome #2 – Width dependence Width 0.6 - 1.6 µm (step 0.1 µm) – Wavelength 1.55 µm </vt:lpstr>
      <vt:lpstr>Learning outcome #2 – Width dependence Width 0.3 - 1 µm (step 0.1 µm) – Wavelength 1.55 µm – Silicon On Insulator</vt:lpstr>
      <vt:lpstr>Learning outcome #3 – Waveguide compact model Let’s model the waveguide using a second order polynomial:  n_eff (λ)=n_1+n_2 (λ-λ_0 )+n_3 (λ-λ_0 )^2 </vt:lpstr>
      <vt:lpstr>Learning outcome #4 – Bend waveguide radius vs. loss – deep Find  neff_TE0 for wvl 1.55 µm, width 1.0 µm for R=25,50,75,100, 125,150 µm </vt:lpstr>
      <vt:lpstr>Learning outcome #4 – Bend waveguide radius vs. loss – deep Find  neff_TE0 for wvl 1.55 µm, width 1.0 µm for R=25,50,75,100, 125,150 µm </vt:lpstr>
      <vt:lpstr>Learning outcome #4 – Bend waveguide radius vs. loss – deep Use the code provided in this section to calculate the safe radius for 1.2 um width deep waveguides at 1.5 um.  </vt:lpstr>
      <vt:lpstr>Learning outcome #4 – Bend waveguide radius vs. loss – deep Use the code provided in this section to calculate the safe radius for 0.5 um width deep waveguides at 1.55 um – Silicon On Insulator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Paula Daniela Ortiz Cuervo</cp:lastModifiedBy>
  <cp:revision>9</cp:revision>
  <dcterms:created xsi:type="dcterms:W3CDTF">2025-01-27T02:46:57Z</dcterms:created>
  <dcterms:modified xsi:type="dcterms:W3CDTF">2026-03-03T16:42:53Z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