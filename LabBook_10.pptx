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4"/>
  </p:notesMasterIdLst>
  <p:handoutMasterIdLst>
    <p:handoutMasterId r:id="rId15"/>
  </p:handoutMasterIdLst>
  <p:sldIdLst>
    <p:sldId id="256" r:id="rId2"/>
    <p:sldId id="295" r:id="rId3"/>
    <p:sldId id="290" r:id="rId4"/>
    <p:sldId id="300" r:id="rId5"/>
    <p:sldId id="292" r:id="rId6"/>
    <p:sldId id="301" r:id="rId7"/>
    <p:sldId id="297" r:id="rId8"/>
    <p:sldId id="298" r:id="rId9"/>
    <p:sldId id="293" r:id="rId10"/>
    <p:sldId id="299" r:id="rId11"/>
    <p:sldId id="302" r:id="rId12"/>
    <p:sldId id="288" r:id="rId1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3A380-F68D-4B97-8CF0-04FACEB71A64}" v="8" dt="2026-02-16T10:00:04.3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p:scale>
          <a:sx n="75" d="100"/>
          <a:sy n="75" d="100"/>
        </p:scale>
        <p:origin x="924" y="-90"/>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E6287060-0277-4BCC-9556-78F4A9113EC4}"/>
    <pc:docChg chg="custSel addSld delSld modSld">
      <pc:chgData name="Christian Camilo Cano Vasquez" userId="8c73a2a4-758b-4e34-81ed-39462e48bd92" providerId="ADAL" clId="{E6287060-0277-4BCC-9556-78F4A9113EC4}" dt="2026-02-16T10:00:04.333" v="112"/>
      <pc:docMkLst>
        <pc:docMk/>
      </pc:docMkLst>
      <pc:sldChg chg="addSp delSp modSp mod">
        <pc:chgData name="Christian Camilo Cano Vasquez" userId="8c73a2a4-758b-4e34-81ed-39462e48bd92" providerId="ADAL" clId="{E6287060-0277-4BCC-9556-78F4A9113EC4}" dt="2026-02-16T09:54:36.314" v="109" actId="20577"/>
        <pc:sldMkLst>
          <pc:docMk/>
          <pc:sldMk cId="730501311" sldId="290"/>
        </pc:sldMkLst>
        <pc:spChg chg="add mod">
          <ac:chgData name="Christian Camilo Cano Vasquez" userId="8c73a2a4-758b-4e34-81ed-39462e48bd92" providerId="ADAL" clId="{E6287060-0277-4BCC-9556-78F4A9113EC4}" dt="2026-02-16T09:48:48.742" v="10" actId="1076"/>
          <ac:spMkLst>
            <pc:docMk/>
            <pc:sldMk cId="730501311" sldId="290"/>
            <ac:spMk id="2" creationId="{029F2FF9-FEB4-7AA3-B3B4-EFA9CFA0E230}"/>
          </ac:spMkLst>
        </pc:spChg>
        <pc:spChg chg="add mod">
          <ac:chgData name="Christian Camilo Cano Vasquez" userId="8c73a2a4-758b-4e34-81ed-39462e48bd92" providerId="ADAL" clId="{E6287060-0277-4BCC-9556-78F4A9113EC4}" dt="2026-02-16T09:49:37.395" v="33" actId="20577"/>
          <ac:spMkLst>
            <pc:docMk/>
            <pc:sldMk cId="730501311" sldId="290"/>
            <ac:spMk id="4" creationId="{C2C94B57-6111-4070-F6BA-8C3B9C305618}"/>
          </ac:spMkLst>
        </pc:spChg>
        <pc:spChg chg="del">
          <ac:chgData name="Christian Camilo Cano Vasquez" userId="8c73a2a4-758b-4e34-81ed-39462e48bd92" providerId="ADAL" clId="{E6287060-0277-4BCC-9556-78F4A9113EC4}" dt="2026-02-16T09:48:32.837" v="5" actId="478"/>
          <ac:spMkLst>
            <pc:docMk/>
            <pc:sldMk cId="730501311" sldId="290"/>
            <ac:spMk id="7" creationId="{F917B3AA-589C-A90A-EE95-EE60C6D04663}"/>
          </ac:spMkLst>
        </pc:spChg>
        <pc:spChg chg="del">
          <ac:chgData name="Christian Camilo Cano Vasquez" userId="8c73a2a4-758b-4e34-81ed-39462e48bd92" providerId="ADAL" clId="{E6287060-0277-4BCC-9556-78F4A9113EC4}" dt="2026-02-16T09:48:32.837" v="5" actId="478"/>
          <ac:spMkLst>
            <pc:docMk/>
            <pc:sldMk cId="730501311" sldId="290"/>
            <ac:spMk id="9" creationId="{793F5757-34AB-6F24-0981-9F1F15A0ADF8}"/>
          </ac:spMkLst>
        </pc:spChg>
        <pc:spChg chg="del">
          <ac:chgData name="Christian Camilo Cano Vasquez" userId="8c73a2a4-758b-4e34-81ed-39462e48bd92" providerId="ADAL" clId="{E6287060-0277-4BCC-9556-78F4A9113EC4}" dt="2026-02-16T09:48:35.096" v="6" actId="478"/>
          <ac:spMkLst>
            <pc:docMk/>
            <pc:sldMk cId="730501311" sldId="290"/>
            <ac:spMk id="11" creationId="{8BD4C233-B5D9-B6AA-93A8-CF2F130CFF9C}"/>
          </ac:spMkLst>
        </pc:spChg>
        <pc:spChg chg="mod">
          <ac:chgData name="Christian Camilo Cano Vasquez" userId="8c73a2a4-758b-4e34-81ed-39462e48bd92" providerId="ADAL" clId="{E6287060-0277-4BCC-9556-78F4A9113EC4}" dt="2026-02-16T09:54:36.314" v="109" actId="20577"/>
          <ac:spMkLst>
            <pc:docMk/>
            <pc:sldMk cId="730501311" sldId="290"/>
            <ac:spMk id="16" creationId="{471E1424-6C4B-2D9A-1352-30AFB987AD41}"/>
          </ac:spMkLst>
        </pc:spChg>
      </pc:sldChg>
      <pc:sldChg chg="modSp add del mod">
        <pc:chgData name="Christian Camilo Cano Vasquez" userId="8c73a2a4-758b-4e34-81ed-39462e48bd92" providerId="ADAL" clId="{E6287060-0277-4BCC-9556-78F4A9113EC4}" dt="2026-02-16T09:54:44.707" v="111" actId="20577"/>
        <pc:sldMkLst>
          <pc:docMk/>
          <pc:sldMk cId="2900117438" sldId="292"/>
        </pc:sldMkLst>
        <pc:spChg chg="mod">
          <ac:chgData name="Christian Camilo Cano Vasquez" userId="8c73a2a4-758b-4e34-81ed-39462e48bd92" providerId="ADAL" clId="{E6287060-0277-4BCC-9556-78F4A9113EC4}" dt="2026-02-16T09:51:39.768" v="80" actId="313"/>
          <ac:spMkLst>
            <pc:docMk/>
            <pc:sldMk cId="2900117438" sldId="292"/>
            <ac:spMk id="2" creationId="{82A62DD6-5488-72A1-9926-0CAEE59089A9}"/>
          </ac:spMkLst>
        </pc:spChg>
        <pc:spChg chg="mod">
          <ac:chgData name="Christian Camilo Cano Vasquez" userId="8c73a2a4-758b-4e34-81ed-39462e48bd92" providerId="ADAL" clId="{E6287060-0277-4BCC-9556-78F4A9113EC4}" dt="2026-02-16T09:54:44.707" v="111" actId="20577"/>
          <ac:spMkLst>
            <pc:docMk/>
            <pc:sldMk cId="2900117438" sldId="292"/>
            <ac:spMk id="16" creationId="{6AA2E789-F7AE-F068-274C-E0F13A22DBCA}"/>
          </ac:spMkLst>
        </pc:spChg>
      </pc:sldChg>
      <pc:sldChg chg="modSp add del mod">
        <pc:chgData name="Christian Camilo Cano Vasquez" userId="8c73a2a4-758b-4e34-81ed-39462e48bd92" providerId="ADAL" clId="{E6287060-0277-4BCC-9556-78F4A9113EC4}" dt="2026-02-16T09:50:51.822" v="37" actId="20577"/>
        <pc:sldMkLst>
          <pc:docMk/>
          <pc:sldMk cId="3660438245" sldId="293"/>
        </pc:sldMkLst>
        <pc:spChg chg="mod">
          <ac:chgData name="Christian Camilo Cano Vasquez" userId="8c73a2a4-758b-4e34-81ed-39462e48bd92" providerId="ADAL" clId="{E6287060-0277-4BCC-9556-78F4A9113EC4}" dt="2026-02-16T09:45:25.127" v="4" actId="115"/>
          <ac:spMkLst>
            <pc:docMk/>
            <pc:sldMk cId="3660438245" sldId="293"/>
            <ac:spMk id="2" creationId="{FDE3A197-9508-F9F1-1FEB-FF883D78C151}"/>
          </ac:spMkLst>
        </pc:spChg>
        <pc:spChg chg="mod">
          <ac:chgData name="Christian Camilo Cano Vasquez" userId="8c73a2a4-758b-4e34-81ed-39462e48bd92" providerId="ADAL" clId="{E6287060-0277-4BCC-9556-78F4A9113EC4}" dt="2026-02-16T09:50:51.822" v="37" actId="20577"/>
          <ac:spMkLst>
            <pc:docMk/>
            <pc:sldMk cId="3660438245" sldId="293"/>
            <ac:spMk id="16" creationId="{742C31CE-19F0-B995-0997-9A2D6A879BF7}"/>
          </ac:spMkLst>
        </pc:spChg>
      </pc:sldChg>
      <pc:sldChg chg="modSp mod">
        <pc:chgData name="Christian Camilo Cano Vasquez" userId="8c73a2a4-758b-4e34-81ed-39462e48bd92" providerId="ADAL" clId="{E6287060-0277-4BCC-9556-78F4A9113EC4}" dt="2026-02-16T10:00:04.333" v="112"/>
        <pc:sldMkLst>
          <pc:docMk/>
          <pc:sldMk cId="473922805" sldId="295"/>
        </pc:sldMkLst>
        <pc:spChg chg="mod">
          <ac:chgData name="Christian Camilo Cano Vasquez" userId="8c73a2a4-758b-4e34-81ed-39462e48bd92" providerId="ADAL" clId="{E6287060-0277-4BCC-9556-78F4A9113EC4}" dt="2026-02-16T10:00:04.333" v="112"/>
          <ac:spMkLst>
            <pc:docMk/>
            <pc:sldMk cId="473922805" sldId="295"/>
            <ac:spMk id="4" creationId="{9F7BC140-B3D8-C3CB-55AD-9064C7CDE9CA}"/>
          </ac:spMkLst>
        </pc:spChg>
      </pc:sldChg>
      <pc:sldChg chg="del">
        <pc:chgData name="Christian Camilo Cano Vasquez" userId="8c73a2a4-758b-4e34-81ed-39462e48bd92" providerId="ADAL" clId="{E6287060-0277-4BCC-9556-78F4A9113EC4}" dt="2026-02-16T09:50:39.931" v="34" actId="47"/>
        <pc:sldMkLst>
          <pc:docMk/>
          <pc:sldMk cId="1245186850" sldId="296"/>
        </pc:sldMkLst>
      </pc:sldChg>
      <pc:sldChg chg="modSp add del">
        <pc:chgData name="Christian Camilo Cano Vasquez" userId="8c73a2a4-758b-4e34-81ed-39462e48bd92" providerId="ADAL" clId="{E6287060-0277-4BCC-9556-78F4A9113EC4}" dt="2026-02-16T09:50:57.288" v="39" actId="20577"/>
        <pc:sldMkLst>
          <pc:docMk/>
          <pc:sldMk cId="236054401" sldId="297"/>
        </pc:sldMkLst>
        <pc:spChg chg="mod">
          <ac:chgData name="Christian Camilo Cano Vasquez" userId="8c73a2a4-758b-4e34-81ed-39462e48bd92" providerId="ADAL" clId="{E6287060-0277-4BCC-9556-78F4A9113EC4}" dt="2026-02-16T09:50:57.288" v="39" actId="20577"/>
          <ac:spMkLst>
            <pc:docMk/>
            <pc:sldMk cId="236054401" sldId="297"/>
            <ac:spMk id="16" creationId="{394400B4-EE16-8E85-AB54-E82FE3B293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07/03/2026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04/03/2026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59C1-E4C7-566E-DE33-4E89816DC4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0BBF76-8A11-2BAF-0D6C-AE2CF0ACAF9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94EFFD-587A-E45F-BF5D-188981760D5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95E8DA2-EDAC-DAE3-2D88-63A7A187A548}"/>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165980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9566C-837D-827A-2D27-56E0458B28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4B54E8-5577-B25E-A178-42EEE8FACB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D6991F-0B07-C6A7-5125-47A971C7B5F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E69CEB-B0C4-4D75-3A8F-08B2E8271E38}"/>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4424264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D2547-9BE9-E995-7995-15B65E2F40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EBA887C-A4F2-0119-3B58-777479AB34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D85C9A-0E9B-17EF-1AB1-DD42D876E72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33AF8CC-73C0-4653-A67D-D556CD071446}"/>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412261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741A-1BEF-9BBE-95D6-0D814A96E2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74441F-8744-FF93-61FF-583E5F93F1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4FEF10-CE51-3EB1-20D5-7FEC62BD052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E688DF3-C50B-A8AE-3A11-912C98A1B2A1}"/>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106816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749A-0B6F-FE31-B927-259D4CD92D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70F33D-5EB6-52E9-2B08-119781ED4E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B83A7C-8B4E-3A44-023D-BE07A76ABAF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C16D7CC-974D-EC06-4055-2B93F59EDC73}"/>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765148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cccanvas-upv/pic-upv-lab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package" Target="../embeddings/Microsoft_Excel_Worksheet.xlsx"/><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 Id="rId9" Type="http://schemas.openxmlformats.org/officeDocument/2006/relationships/image" Target="../media/image18.e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0.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50.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Paula Daniela Ortiz Cuervo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s-ES" dirty="0" err="1">
                <a:hlinkClick r:id="rId4"/>
              </a:rPr>
              <a:t>cccanvas-upv</a:t>
            </a:r>
            <a:r>
              <a:rPr lang="es-ES">
                <a:hlinkClick r:id="rId4"/>
              </a:rPr>
              <a:t>/pic-upv-lab1</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161033"/>
            <a:ext cx="10994410" cy="705321"/>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#1 – </a:t>
            </a:r>
            <a:r>
              <a:rPr lang="es-CO" sz="2500" noProof="0" dirty="0" err="1"/>
              <a:t>Convergence</a:t>
            </a:r>
            <a:r>
              <a:rPr lang="es-CO" sz="2500" noProof="0" dirty="0"/>
              <a:t> </a:t>
            </a:r>
            <a:r>
              <a:rPr lang="es-CO" sz="2500" noProof="0" dirty="0" err="1"/>
              <a:t>tests</a:t>
            </a:r>
            <a:br>
              <a:rPr lang="es-CO" sz="2500" noProof="0" dirty="0"/>
            </a:br>
            <a:r>
              <a:rPr lang="es-CO" b="0" noProof="0" dirty="0"/>
              <a:t>DE </a:t>
            </a:r>
            <a:r>
              <a:rPr lang="es-CO" b="0" noProof="0" dirty="0" err="1"/>
              <a:t>waveguide</a:t>
            </a:r>
            <a:r>
              <a:rPr lang="es-CO" b="0" noProof="0" dirty="0"/>
              <a:t>, w = 1.2 µm, neff_TE0, </a:t>
            </a:r>
            <a:r>
              <a:rPr lang="es-CO" b="0" noProof="0" dirty="0" err="1"/>
              <a:t>wvl</a:t>
            </a:r>
            <a:r>
              <a:rPr lang="es-CO" b="0" noProof="0" dirty="0"/>
              <a:t> 1.55 µm. </a:t>
            </a: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CO" noProof="0" smtClean="0"/>
              <a:t>3</a:t>
            </a:fld>
            <a:endParaRPr lang="es-CO" noProof="0" dirty="0"/>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CO" spc="-5" noProof="0" dirty="0"/>
              <a:t>LAB 1.0. WAVEGUIDES</a:t>
            </a:r>
          </a:p>
        </p:txBody>
      </p:sp>
      <p:sp>
        <p:nvSpPr>
          <p:cNvPr id="6" name="Rectángulo 5">
            <a:extLst>
              <a:ext uri="{FF2B5EF4-FFF2-40B4-BE49-F238E27FC236}">
                <a16:creationId xmlns:a16="http://schemas.microsoft.com/office/drawing/2014/main" id="{067C6D40-33EE-D9BE-7F58-8D96221D0D59}"/>
              </a:ext>
            </a:extLst>
          </p:cNvPr>
          <p:cNvSpPr/>
          <p:nvPr/>
        </p:nvSpPr>
        <p:spPr>
          <a:xfrm>
            <a:off x="304800" y="978277"/>
            <a:ext cx="4114959" cy="507831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0" name="CuadroTexto 9">
            <a:extLst>
              <a:ext uri="{FF2B5EF4-FFF2-40B4-BE49-F238E27FC236}">
                <a16:creationId xmlns:a16="http://schemas.microsoft.com/office/drawing/2014/main" id="{C814CDD6-2B59-8488-4EB8-82801B4D3F22}"/>
              </a:ext>
            </a:extLst>
          </p:cNvPr>
          <p:cNvSpPr txBox="1"/>
          <p:nvPr/>
        </p:nvSpPr>
        <p:spPr>
          <a:xfrm>
            <a:off x="4496118" y="971350"/>
            <a:ext cx="7543482" cy="5078313"/>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noProof="0" dirty="0">
                <a:latin typeface="Arial" panose="020B0604020202020204" pitchFamily="34" charset="0"/>
                <a:cs typeface="Arial" panose="020B0604020202020204" pitchFamily="34" charset="0"/>
              </a:rPr>
              <a:t>Case I (Silicon Nitride): </a:t>
            </a:r>
            <a:r>
              <a:rPr lang="en-US" sz="1200" noProof="0" dirty="0">
                <a:latin typeface="Arial" panose="020B0604020202020204" pitchFamily="34" charset="0"/>
                <a:cs typeface="Arial" panose="020B0604020202020204" pitchFamily="34" charset="0"/>
              </a:rPr>
              <a:t>We simulated how the effective index changes for different grid resolutions. For</a:t>
            </a:r>
            <a:r>
              <a:rPr lang="en-US" sz="1200" dirty="0">
                <a:latin typeface="Arial" panose="020B0604020202020204" pitchFamily="34" charset="0"/>
                <a:cs typeface="Arial" panose="020B0604020202020204" pitchFamily="34" charset="0"/>
              </a:rPr>
              <a:t> grid resolution values above 50 and for a value of 20, the effective index values are very similar, meaning that there is not a significant variation between the resulting effective indices. Since several points produce similar results, we analyze how the effective index varies when changing the max grid scaling for grid resolution values of 20, 50, and 60.</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For a grid resolution of 20, the graph is not very stable; however, at a max grid scaling of 1.30 the effective index is very similar to the results obtained in the other graphs. For the case of 50, we observe that for three values of max grid scaling the effective index is approximately 1.6054. Finally, for a resolution of 60, the values of max grid scaling produce effective indices closer to the ones previously obtained.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Considering the computational cost and aiming to reduce the simulation time, the selected parameters are a grid resolution of 20 and a max grid scaling of 1.30, since this configuration produces results very similar to those obtained with a larger number of simulation points. With these parameters, the simulation mesh looks like the one shown in the image, where there are more simulation points (higher resolution) in the regions where the refractive index changes.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p:txBody>
      </p:sp>
      <p:pic>
        <p:nvPicPr>
          <p:cNvPr id="7" name="Imagen 6" descr="Gráfico, Gráfico de líneas&#10;&#10;El contenido generado por IA puede ser incorrecto.">
            <a:extLst>
              <a:ext uri="{FF2B5EF4-FFF2-40B4-BE49-F238E27FC236}">
                <a16:creationId xmlns:a16="http://schemas.microsoft.com/office/drawing/2014/main" id="{51B25E00-5C8D-3A94-A9F8-655005DA4DA9}"/>
              </a:ext>
            </a:extLst>
          </p:cNvPr>
          <p:cNvPicPr>
            <a:picLocks noChangeAspect="1"/>
          </p:cNvPicPr>
          <p:nvPr/>
        </p:nvPicPr>
        <p:blipFill>
          <a:blip r:embed="rId5"/>
          <a:stretch>
            <a:fillRect/>
          </a:stretch>
        </p:blipFill>
        <p:spPr>
          <a:xfrm>
            <a:off x="381159" y="1151212"/>
            <a:ext cx="3960000" cy="2154167"/>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31BDF932-C004-AB0C-5B72-0D108A1B6DAB}"/>
              </a:ext>
            </a:extLst>
          </p:cNvPr>
          <p:cNvPicPr>
            <a:picLocks noChangeAspect="1"/>
          </p:cNvPicPr>
          <p:nvPr/>
        </p:nvPicPr>
        <p:blipFill>
          <a:blip r:embed="rId6"/>
          <a:stretch>
            <a:fillRect/>
          </a:stretch>
        </p:blipFill>
        <p:spPr>
          <a:xfrm>
            <a:off x="381159" y="3606424"/>
            <a:ext cx="3960000" cy="2283650"/>
          </a:xfrm>
          <a:prstGeom prst="rect">
            <a:avLst/>
          </a:prstGeom>
        </p:spPr>
      </p:pic>
      <p:pic>
        <p:nvPicPr>
          <p:cNvPr id="12" name="Imagen 11" descr="Imagen en blanco y negro&#10;&#10;El contenido generado por IA puede ser incorrecto.">
            <a:extLst>
              <a:ext uri="{FF2B5EF4-FFF2-40B4-BE49-F238E27FC236}">
                <a16:creationId xmlns:a16="http://schemas.microsoft.com/office/drawing/2014/main" id="{B26B7113-5D88-050F-2247-6DBF0090C6A3}"/>
              </a:ext>
            </a:extLst>
          </p:cNvPr>
          <p:cNvPicPr>
            <a:picLocks noChangeAspect="1"/>
          </p:cNvPicPr>
          <p:nvPr/>
        </p:nvPicPr>
        <p:blipFill>
          <a:blip r:embed="rId7"/>
          <a:stretch>
            <a:fillRect/>
          </a:stretch>
        </p:blipFill>
        <p:spPr>
          <a:xfrm>
            <a:off x="6705600" y="4009804"/>
            <a:ext cx="2683209" cy="200175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00995-5BFF-2A2D-8B21-ECBBD7E3B5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27F5DA6-A71E-C3F5-906A-542C8088818B}"/>
              </a:ext>
            </a:extLst>
          </p:cNvPr>
          <p:cNvSpPr txBox="1">
            <a:spLocks noGrp="1"/>
          </p:cNvSpPr>
          <p:nvPr>
            <p:ph type="title"/>
          </p:nvPr>
        </p:nvSpPr>
        <p:spPr>
          <a:xfrm>
            <a:off x="685800" y="161033"/>
            <a:ext cx="10994410" cy="705321"/>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#1 – </a:t>
            </a:r>
            <a:r>
              <a:rPr lang="es-CO" sz="2500" noProof="0" dirty="0" err="1"/>
              <a:t>Convergence</a:t>
            </a:r>
            <a:r>
              <a:rPr lang="es-CO" sz="2500" noProof="0" dirty="0"/>
              <a:t> </a:t>
            </a:r>
            <a:r>
              <a:rPr lang="es-CO" sz="2500" noProof="0" dirty="0" err="1"/>
              <a:t>tests</a:t>
            </a:r>
            <a:br>
              <a:rPr lang="es-CO" sz="2500" noProof="0" dirty="0"/>
            </a:br>
            <a:r>
              <a:rPr lang="es-CO" b="0" noProof="0" dirty="0"/>
              <a:t>DE </a:t>
            </a:r>
            <a:r>
              <a:rPr lang="es-CO" b="0" noProof="0" dirty="0" err="1"/>
              <a:t>waveguide</a:t>
            </a:r>
            <a:r>
              <a:rPr lang="es-CO" b="0" noProof="0" dirty="0"/>
              <a:t>, w = </a:t>
            </a:r>
            <a:r>
              <a:rPr lang="es-CO" b="0" dirty="0"/>
              <a:t>0.5</a:t>
            </a:r>
            <a:r>
              <a:rPr lang="es-CO" b="0" noProof="0" dirty="0"/>
              <a:t> µm, neff_TE0, </a:t>
            </a:r>
            <a:r>
              <a:rPr lang="es-CO" b="0" noProof="0" dirty="0" err="1"/>
              <a:t>wvl</a:t>
            </a:r>
            <a:r>
              <a:rPr lang="es-CO" b="0" noProof="0" dirty="0"/>
              <a:t> 1.55 µm.  </a:t>
            </a:r>
            <a:r>
              <a:rPr lang="es-CO" noProof="0" dirty="0"/>
              <a:t>Silicon </a:t>
            </a:r>
            <a:r>
              <a:rPr lang="es-CO" noProof="0" dirty="0" err="1"/>
              <a:t>On</a:t>
            </a:r>
            <a:r>
              <a:rPr lang="es-CO" noProof="0" dirty="0"/>
              <a:t> </a:t>
            </a:r>
            <a:r>
              <a:rPr lang="es-CO" noProof="0" dirty="0" err="1"/>
              <a:t>Insulator</a:t>
            </a:r>
            <a:endParaRPr lang="es-CO" sz="2500" noProof="0" dirty="0">
              <a:latin typeface="+mj-lt"/>
              <a:cs typeface="Lucida Sans"/>
            </a:endParaRPr>
          </a:p>
        </p:txBody>
      </p:sp>
      <p:pic>
        <p:nvPicPr>
          <p:cNvPr id="83" name="Gráfico 82">
            <a:extLst>
              <a:ext uri="{FF2B5EF4-FFF2-40B4-BE49-F238E27FC236}">
                <a16:creationId xmlns:a16="http://schemas.microsoft.com/office/drawing/2014/main" id="{DAE737A7-101F-33E2-41EB-8CF84E6184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7C11785-1B59-5368-EB92-3D104840C51E}"/>
              </a:ext>
            </a:extLst>
          </p:cNvPr>
          <p:cNvSpPr>
            <a:spLocks noGrp="1"/>
          </p:cNvSpPr>
          <p:nvPr>
            <p:ph type="sldNum" sz="quarter" idx="7"/>
          </p:nvPr>
        </p:nvSpPr>
        <p:spPr/>
        <p:txBody>
          <a:bodyPr/>
          <a:lstStyle/>
          <a:p>
            <a:fld id="{B6F15528-21DE-4FAA-801E-634DDDAF4B2B}" type="slidenum">
              <a:rPr lang="es-CO" noProof="0" smtClean="0"/>
              <a:t>4</a:t>
            </a:fld>
            <a:endParaRPr lang="es-CO" noProof="0" dirty="0"/>
          </a:p>
        </p:txBody>
      </p:sp>
      <p:sp>
        <p:nvSpPr>
          <p:cNvPr id="3" name="Marcador de pie de página 2">
            <a:extLst>
              <a:ext uri="{FF2B5EF4-FFF2-40B4-BE49-F238E27FC236}">
                <a16:creationId xmlns:a16="http://schemas.microsoft.com/office/drawing/2014/main" id="{8F3E2ADD-0EFD-A26F-F182-AB3F41A73E04}"/>
              </a:ext>
            </a:extLst>
          </p:cNvPr>
          <p:cNvSpPr>
            <a:spLocks noGrp="1"/>
          </p:cNvSpPr>
          <p:nvPr>
            <p:ph type="ftr" sz="quarter" idx="5"/>
          </p:nvPr>
        </p:nvSpPr>
        <p:spPr/>
        <p:txBody>
          <a:bodyPr/>
          <a:lstStyle/>
          <a:p>
            <a:pPr marL="12700">
              <a:spcBef>
                <a:spcPts val="15"/>
              </a:spcBef>
            </a:pPr>
            <a:r>
              <a:rPr lang="es-CO" spc="-5" noProof="0" dirty="0"/>
              <a:t>LAB 1.0. WAVEGUIDES</a:t>
            </a:r>
          </a:p>
        </p:txBody>
      </p:sp>
      <p:sp>
        <p:nvSpPr>
          <p:cNvPr id="6" name="Rectángulo 5">
            <a:extLst>
              <a:ext uri="{FF2B5EF4-FFF2-40B4-BE49-F238E27FC236}">
                <a16:creationId xmlns:a16="http://schemas.microsoft.com/office/drawing/2014/main" id="{FD851BB8-16C4-0702-BEE3-8F741CACB607}"/>
              </a:ext>
            </a:extLst>
          </p:cNvPr>
          <p:cNvSpPr/>
          <p:nvPr/>
        </p:nvSpPr>
        <p:spPr>
          <a:xfrm>
            <a:off x="304800" y="978277"/>
            <a:ext cx="4114959" cy="507831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10" name="CuadroTexto 9">
            <a:extLst>
              <a:ext uri="{FF2B5EF4-FFF2-40B4-BE49-F238E27FC236}">
                <a16:creationId xmlns:a16="http://schemas.microsoft.com/office/drawing/2014/main" id="{B5896CD9-E412-27E5-448F-B478BBE54A10}"/>
              </a:ext>
            </a:extLst>
          </p:cNvPr>
          <p:cNvSpPr txBox="1"/>
          <p:nvPr/>
        </p:nvSpPr>
        <p:spPr>
          <a:xfrm>
            <a:off x="4496118" y="971350"/>
            <a:ext cx="7543482" cy="5078313"/>
          </a:xfrm>
          <a:prstGeom prst="rect">
            <a:avLst/>
          </a:prstGeom>
          <a:solidFill>
            <a:schemeClr val="bg1">
              <a:lumMod val="95000"/>
            </a:schemeClr>
          </a:solidFill>
          <a:ln w="28575">
            <a:solidFill>
              <a:srgbClr val="E0700D"/>
            </a:solidFill>
          </a:ln>
        </p:spPr>
        <p:txBody>
          <a:bodyPr wrap="square" rtlCol="0">
            <a:spAutoFit/>
          </a:bodyPr>
          <a:lstStyle/>
          <a:p>
            <a:pPr algn="just"/>
            <a:endParaRPr lang="es-CO" sz="1200" noProof="0" dirty="0">
              <a:latin typeface="Arial" panose="020B0604020202020204" pitchFamily="34" charset="0"/>
              <a:cs typeface="Arial" panose="020B0604020202020204" pitchFamily="34" charset="0"/>
            </a:endParaRPr>
          </a:p>
          <a:p>
            <a:pPr algn="just"/>
            <a:r>
              <a:rPr lang="es-CO" sz="1200" b="1" noProof="0" dirty="0">
                <a:latin typeface="Arial" panose="020B0604020202020204" pitchFamily="34" charset="0"/>
                <a:cs typeface="Arial" panose="020B0604020202020204" pitchFamily="34" charset="0"/>
              </a:rPr>
              <a:t>Case II (Silicon </a:t>
            </a:r>
            <a:r>
              <a:rPr lang="es-CO" sz="1200" b="1" noProof="0" dirty="0" err="1">
                <a:latin typeface="Arial" panose="020B0604020202020204" pitchFamily="34" charset="0"/>
                <a:cs typeface="Arial" panose="020B0604020202020204" pitchFamily="34" charset="0"/>
              </a:rPr>
              <a:t>on</a:t>
            </a:r>
            <a:r>
              <a:rPr lang="es-CO" sz="1200" b="1" noProof="0" dirty="0">
                <a:latin typeface="Arial" panose="020B0604020202020204" pitchFamily="34" charset="0"/>
                <a:cs typeface="Arial" panose="020B0604020202020204" pitchFamily="34" charset="0"/>
              </a:rPr>
              <a:t> </a:t>
            </a:r>
            <a:r>
              <a:rPr lang="es-CO" sz="1200" b="1" noProof="0" dirty="0" err="1">
                <a:latin typeface="Arial" panose="020B0604020202020204" pitchFamily="34" charset="0"/>
                <a:cs typeface="Arial" panose="020B0604020202020204" pitchFamily="34" charset="0"/>
              </a:rPr>
              <a:t>Insulator</a:t>
            </a:r>
            <a:r>
              <a:rPr lang="es-CO" sz="1200" b="1" noProof="0" dirty="0">
                <a:latin typeface="Arial" panose="020B0604020202020204" pitchFamily="34" charset="0"/>
                <a:cs typeface="Arial" panose="020B0604020202020204" pitchFamily="34" charset="0"/>
              </a:rPr>
              <a:t>):</a:t>
            </a:r>
            <a:r>
              <a:rPr lang="es-CO" sz="1200" noProof="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W</a:t>
            </a:r>
            <a:r>
              <a:rPr lang="en-US" sz="1200" noProof="0" dirty="0">
                <a:latin typeface="Arial" panose="020B0604020202020204" pitchFamily="34" charset="0"/>
                <a:cs typeface="Arial" panose="020B0604020202020204" pitchFamily="34" charset="0"/>
              </a:rPr>
              <a:t>e observe that for values of 20 and from 40 to 70 the effective indices are very similar. As in the previous case, three grid resolution values were selected in order to vary the max grid scaling and determine which values better suit this waveguide. The chosen grid resolutions were 20, 40, and 50.</a:t>
            </a:r>
          </a:p>
          <a:p>
            <a:pPr algn="just"/>
            <a:endParaRPr lang="en-US" sz="120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For a grid resolution of 20, we obtain almost the same effective index across most of the selected range, whereas for higher resolutions this is not always the case. </a:t>
            </a:r>
            <a:r>
              <a:rPr lang="en-US" sz="1200" dirty="0">
                <a:latin typeface="Arial" panose="020B0604020202020204" pitchFamily="34" charset="0"/>
                <a:cs typeface="Arial" panose="020B0604020202020204" pitchFamily="34" charset="0"/>
              </a:rPr>
              <a:t>F</a:t>
            </a:r>
            <a:r>
              <a:rPr lang="en-US" sz="1200" noProof="0" dirty="0">
                <a:latin typeface="Arial" panose="020B0604020202020204" pitchFamily="34" charset="0"/>
                <a:cs typeface="Arial" panose="020B0604020202020204" pitchFamily="34" charset="0"/>
              </a:rPr>
              <a:t>or a grid resolution of 40 and 50, we also obtain similar values of the refractive index; however, </a:t>
            </a:r>
            <a:r>
              <a:rPr lang="en-US" sz="1200" dirty="0">
                <a:latin typeface="Arial" panose="020B0604020202020204" pitchFamily="34" charset="0"/>
                <a:cs typeface="Arial" panose="020B0604020202020204" pitchFamily="34" charset="0"/>
              </a:rPr>
              <a:t>c</a:t>
            </a:r>
            <a:r>
              <a:rPr lang="en-US" sz="1200" noProof="0" dirty="0" err="1">
                <a:latin typeface="Arial" panose="020B0604020202020204" pitchFamily="34" charset="0"/>
                <a:cs typeface="Arial" panose="020B0604020202020204" pitchFamily="34" charset="0"/>
              </a:rPr>
              <a:t>onsidering</a:t>
            </a:r>
            <a:r>
              <a:rPr lang="en-US" sz="1200" noProof="0" dirty="0">
                <a:latin typeface="Arial" panose="020B0604020202020204" pitchFamily="34" charset="0"/>
                <a:cs typeface="Arial" panose="020B0604020202020204" pitchFamily="34" charset="0"/>
              </a:rPr>
              <a:t> the lower computational cost and shorter simulation time, a value of 1.30 was selected for the max grid scaling whit grid resolution of 20. </a:t>
            </a:r>
          </a:p>
          <a:p>
            <a:pPr algn="just"/>
            <a:endParaRPr lang="en-US" sz="120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Compared with the previous case, we see that for SOI different max grid values could be selected for the same grid resolution of 20</a:t>
            </a:r>
            <a:r>
              <a:rPr lang="en-US" sz="1200" dirty="0">
                <a:latin typeface="Arial" panose="020B0604020202020204" pitchFamily="34" charset="0"/>
                <a:cs typeface="Arial" panose="020B0604020202020204" pitchFamily="34" charset="0"/>
              </a:rPr>
              <a:t>.</a:t>
            </a:r>
            <a:r>
              <a:rPr lang="en-US" sz="1200" noProof="0" dirty="0">
                <a:latin typeface="Arial" panose="020B0604020202020204" pitchFamily="34" charset="0"/>
                <a:cs typeface="Arial" panose="020B0604020202020204" pitchFamily="34" charset="0"/>
              </a:rPr>
              <a:t> This means that more simulation points could be used when refractive index changes occur without significantly affecting the effective index, or alternatively the grid resolution could be increased.</a:t>
            </a:r>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63105ECD-34F3-8AF2-69E7-3843C8ABAB28}"/>
              </a:ext>
            </a:extLst>
          </p:cNvPr>
          <p:cNvPicPr>
            <a:picLocks noChangeAspect="1"/>
          </p:cNvPicPr>
          <p:nvPr/>
        </p:nvPicPr>
        <p:blipFill>
          <a:blip r:embed="rId5"/>
          <a:stretch>
            <a:fillRect/>
          </a:stretch>
        </p:blipFill>
        <p:spPr>
          <a:xfrm>
            <a:off x="381159" y="1203930"/>
            <a:ext cx="3960000" cy="2176842"/>
          </a:xfrm>
          <a:prstGeom prst="rect">
            <a:avLst/>
          </a:prstGeom>
        </p:spPr>
      </p:pic>
      <p:pic>
        <p:nvPicPr>
          <p:cNvPr id="8" name="Imagen 7">
            <a:extLst>
              <a:ext uri="{FF2B5EF4-FFF2-40B4-BE49-F238E27FC236}">
                <a16:creationId xmlns:a16="http://schemas.microsoft.com/office/drawing/2014/main" id="{6C8393BB-9FAE-5E11-5052-2877EF0E73DC}"/>
              </a:ext>
            </a:extLst>
          </p:cNvPr>
          <p:cNvPicPr>
            <a:picLocks noChangeAspect="1"/>
          </p:cNvPicPr>
          <p:nvPr/>
        </p:nvPicPr>
        <p:blipFill>
          <a:blip r:embed="rId6"/>
          <a:stretch>
            <a:fillRect/>
          </a:stretch>
        </p:blipFill>
        <p:spPr>
          <a:xfrm>
            <a:off x="381159" y="3515472"/>
            <a:ext cx="3960000" cy="2336965"/>
          </a:xfrm>
          <a:prstGeom prst="rect">
            <a:avLst/>
          </a:prstGeom>
        </p:spPr>
      </p:pic>
      <p:pic>
        <p:nvPicPr>
          <p:cNvPr id="13" name="Imagen 12">
            <a:extLst>
              <a:ext uri="{FF2B5EF4-FFF2-40B4-BE49-F238E27FC236}">
                <a16:creationId xmlns:a16="http://schemas.microsoft.com/office/drawing/2014/main" id="{5198C039-470B-0805-480D-5FC2784296CD}"/>
              </a:ext>
            </a:extLst>
          </p:cNvPr>
          <p:cNvPicPr>
            <a:picLocks noChangeAspect="1"/>
          </p:cNvPicPr>
          <p:nvPr/>
        </p:nvPicPr>
        <p:blipFill>
          <a:blip r:embed="rId7"/>
          <a:stretch>
            <a:fillRect/>
          </a:stretch>
        </p:blipFill>
        <p:spPr>
          <a:xfrm>
            <a:off x="6183005" y="3692437"/>
            <a:ext cx="2895320" cy="2160000"/>
          </a:xfrm>
          <a:prstGeom prst="rect">
            <a:avLst/>
          </a:prstGeom>
        </p:spPr>
      </p:pic>
    </p:spTree>
    <p:extLst>
      <p:ext uri="{BB962C8B-B14F-4D97-AF65-F5344CB8AC3E}">
        <p14:creationId xmlns:p14="http://schemas.microsoft.com/office/powerpoint/2010/main" val="159915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#2 – </a:t>
            </a:r>
            <a:r>
              <a:rPr lang="es-CO" sz="2500" noProof="0" dirty="0" err="1"/>
              <a:t>Width</a:t>
            </a:r>
            <a:r>
              <a:rPr lang="es-CO" sz="2500" noProof="0" dirty="0"/>
              <a:t> </a:t>
            </a:r>
            <a:r>
              <a:rPr lang="es-CO" sz="2500" noProof="0" dirty="0" err="1"/>
              <a:t>dependence</a:t>
            </a:r>
            <a:br>
              <a:rPr lang="es-CO" sz="2500" spc="-5" noProof="0" dirty="0">
                <a:latin typeface="+mj-lt"/>
                <a:cs typeface="Lucida Sans"/>
              </a:rPr>
            </a:br>
            <a:r>
              <a:rPr lang="es-CO" b="0" noProof="0" dirty="0" err="1"/>
              <a:t>Width</a:t>
            </a:r>
            <a:r>
              <a:rPr lang="es-CO" b="0" noProof="0" dirty="0"/>
              <a:t> 0.6 - 1.6 µm (step 0.1 µm) – </a:t>
            </a:r>
            <a:r>
              <a:rPr lang="es-CO" b="0" noProof="0" dirty="0" err="1"/>
              <a:t>Wavelength</a:t>
            </a:r>
            <a:r>
              <a:rPr lang="es-CO" b="0" noProof="0" dirty="0"/>
              <a:t> 1.55 µm </a:t>
            </a: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CO" noProof="0" smtClean="0"/>
              <a:t>5</a:t>
            </a:fld>
            <a:endParaRPr lang="es-CO" noProof="0" dirty="0"/>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CO" spc="-5" noProof="0" dirty="0"/>
              <a:t>LAB 0.1. MODESOLVER</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1200" noProof="0" dirty="0">
                <a:latin typeface="Arial" panose="020B0604020202020204" pitchFamily="34" charset="0"/>
                <a:cs typeface="Arial" panose="020B0604020202020204" pitchFamily="34" charset="0"/>
              </a:rPr>
              <a:t>We also observe that as the width of the waveguide increases, the number of propagating modes also increases. For a width of 0.6 µm, only the fundamental modes propagate, meaning that the waveguide is single-mode if the input polarization is controlled </a:t>
            </a:r>
            <a:r>
              <a:rPr lang="en-US" sz="1200" dirty="0">
                <a:latin typeface="Arial" panose="020B0604020202020204" pitchFamily="34" charset="0"/>
                <a:cs typeface="Arial" panose="020B0604020202020204" pitchFamily="34" charset="0"/>
              </a:rPr>
              <a:t>(</a:t>
            </a:r>
            <a:r>
              <a:rPr lang="en-US" sz="1200" noProof="0" dirty="0">
                <a:latin typeface="Arial" panose="020B0604020202020204" pitchFamily="34" charset="0"/>
                <a:cs typeface="Arial" panose="020B0604020202020204" pitchFamily="34" charset="0"/>
              </a:rPr>
              <a:t>only TE or TM polarized light is launched). Additionally, as the width increases, the effective index value also increases, going from 1.51172534 for the first mode to 1.63222705, corresponding to a difference of 0.121 between the initial and final values. This increase indicates that enlarging the cross section in the x-direction allows the mode to become more confined within the waveguide.</a:t>
            </a:r>
            <a:endParaRPr lang="es-CO" sz="1200" noProof="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Another important aspect is that this increase causes additional modes to start propagating once the width reaches 1.6 µm. In this case, mode 2 (TE) begins to propagate. This shows that as the cross section becomes wider, more modes appear. Initially, these modes propagate mainly through the cladding (meaning they are weakly confined), and as the cross section continues to increase, they become more confined. However, they still do not propagate strongly confined because the refractive index contrast between the materials is not sufficiently large for strong confinement within the core and the width is small.</a:t>
            </a:r>
            <a:endParaRPr lang="es-CO"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28435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s-CO" b="1" noProof="0" dirty="0" err="1"/>
              <a:t>deep</a:t>
            </a:r>
            <a:r>
              <a:rPr lang="es-CO" noProof="0" dirty="0"/>
              <a:t> </a:t>
            </a:r>
            <a:r>
              <a:rPr lang="es-CO" noProof="0" dirty="0" err="1"/>
              <a:t>waveguide</a:t>
            </a:r>
            <a:endParaRPr lang="es-CO" noProof="0" dirty="0"/>
          </a:p>
          <a:p>
            <a:pPr algn="ctr"/>
            <a:endParaRPr lang="es-CO" noProof="0" dirty="0"/>
          </a:p>
          <a:p>
            <a:pPr algn="ctr"/>
            <a:r>
              <a:rPr lang="es-CO" noProof="0" dirty="0"/>
              <a:t>Paste </a:t>
            </a:r>
            <a:r>
              <a:rPr lang="es-CO" noProof="0" dirty="0" err="1"/>
              <a:t>plot</a:t>
            </a:r>
            <a:r>
              <a:rPr lang="es-CO" noProof="0" dirty="0"/>
              <a:t> </a:t>
            </a:r>
            <a:r>
              <a:rPr lang="es-CO" noProof="0" dirty="0" err="1"/>
              <a:t>here</a:t>
            </a:r>
            <a:endParaRPr lang="es-CO" noProof="0" dirty="0"/>
          </a:p>
        </p:txBody>
      </p:sp>
      <p:pic>
        <p:nvPicPr>
          <p:cNvPr id="9" name="Imagen 8" descr="Gráfico, Gráfico de líneas&#10;&#10;El contenido generado por IA puede ser incorrecto.">
            <a:extLst>
              <a:ext uri="{FF2B5EF4-FFF2-40B4-BE49-F238E27FC236}">
                <a16:creationId xmlns:a16="http://schemas.microsoft.com/office/drawing/2014/main" id="{AF9D2DA8-18A5-1B1F-B7B3-D07D9BD9B16D}"/>
              </a:ext>
            </a:extLst>
          </p:cNvPr>
          <p:cNvPicPr>
            <a:picLocks noChangeAspect="1"/>
          </p:cNvPicPr>
          <p:nvPr/>
        </p:nvPicPr>
        <p:blipFill>
          <a:blip r:embed="rId5"/>
          <a:stretch>
            <a:fillRect/>
          </a:stretch>
        </p:blipFill>
        <p:spPr>
          <a:xfrm>
            <a:off x="3352800" y="1524000"/>
            <a:ext cx="5295900" cy="3082970"/>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E26-0831-AE14-A0A4-8A79E15035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FF0576C-921C-E6F0-0DE7-4696498D311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#2 – </a:t>
            </a:r>
            <a:r>
              <a:rPr lang="es-CO" sz="2500" noProof="0" dirty="0" err="1"/>
              <a:t>Width</a:t>
            </a:r>
            <a:r>
              <a:rPr lang="es-CO" sz="2500" noProof="0" dirty="0"/>
              <a:t> </a:t>
            </a:r>
            <a:r>
              <a:rPr lang="es-CO" sz="2500" noProof="0" dirty="0" err="1"/>
              <a:t>dependence</a:t>
            </a:r>
            <a:br>
              <a:rPr lang="es-CO" sz="2500" spc="-5" noProof="0" dirty="0">
                <a:latin typeface="+mj-lt"/>
                <a:cs typeface="Lucida Sans"/>
              </a:rPr>
            </a:br>
            <a:r>
              <a:rPr lang="es-CO" b="0" noProof="0" dirty="0" err="1"/>
              <a:t>Width</a:t>
            </a:r>
            <a:r>
              <a:rPr lang="es-CO" b="0" noProof="0" dirty="0"/>
              <a:t> 0.3 - 1 µm (step 0.1 µm) – </a:t>
            </a:r>
            <a:r>
              <a:rPr lang="es-CO" b="0" noProof="0" dirty="0" err="1"/>
              <a:t>Wavelength</a:t>
            </a:r>
            <a:r>
              <a:rPr lang="es-CO" b="0" noProof="0" dirty="0"/>
              <a:t> 1.55 µm – </a:t>
            </a:r>
            <a:r>
              <a:rPr lang="es-CO" noProof="0" dirty="0"/>
              <a:t>Silicon </a:t>
            </a:r>
            <a:r>
              <a:rPr lang="es-CO" noProof="0" dirty="0" err="1"/>
              <a:t>On</a:t>
            </a:r>
            <a:r>
              <a:rPr lang="es-CO" noProof="0" dirty="0"/>
              <a:t> </a:t>
            </a:r>
            <a:r>
              <a:rPr lang="es-CO" noProof="0" dirty="0" err="1"/>
              <a:t>Insulator</a:t>
            </a:r>
            <a:endParaRPr lang="es-CO" sz="2500" noProof="0" dirty="0">
              <a:latin typeface="+mj-lt"/>
              <a:cs typeface="Lucida Sans"/>
            </a:endParaRPr>
          </a:p>
        </p:txBody>
      </p:sp>
      <p:pic>
        <p:nvPicPr>
          <p:cNvPr id="83" name="Gráfico 82">
            <a:extLst>
              <a:ext uri="{FF2B5EF4-FFF2-40B4-BE49-F238E27FC236}">
                <a16:creationId xmlns:a16="http://schemas.microsoft.com/office/drawing/2014/main" id="{BDC69D14-8D7A-18EE-2BAF-3B3B9B0B26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81E96DC-A7EE-87DF-BA93-E9B116B97194}"/>
              </a:ext>
            </a:extLst>
          </p:cNvPr>
          <p:cNvSpPr>
            <a:spLocks noGrp="1"/>
          </p:cNvSpPr>
          <p:nvPr>
            <p:ph type="sldNum" sz="quarter" idx="7"/>
          </p:nvPr>
        </p:nvSpPr>
        <p:spPr/>
        <p:txBody>
          <a:bodyPr/>
          <a:lstStyle/>
          <a:p>
            <a:fld id="{B6F15528-21DE-4FAA-801E-634DDDAF4B2B}" type="slidenum">
              <a:rPr lang="es-CO" noProof="0" smtClean="0"/>
              <a:t>6</a:t>
            </a:fld>
            <a:endParaRPr lang="es-CO" noProof="0" dirty="0"/>
          </a:p>
        </p:txBody>
      </p:sp>
      <p:sp>
        <p:nvSpPr>
          <p:cNvPr id="3" name="Marcador de pie de página 2">
            <a:extLst>
              <a:ext uri="{FF2B5EF4-FFF2-40B4-BE49-F238E27FC236}">
                <a16:creationId xmlns:a16="http://schemas.microsoft.com/office/drawing/2014/main" id="{5CC879E4-F8D5-CF29-86C4-18251D06548E}"/>
              </a:ext>
            </a:extLst>
          </p:cNvPr>
          <p:cNvSpPr>
            <a:spLocks noGrp="1"/>
          </p:cNvSpPr>
          <p:nvPr>
            <p:ph type="ftr" sz="quarter" idx="5"/>
          </p:nvPr>
        </p:nvSpPr>
        <p:spPr/>
        <p:txBody>
          <a:bodyPr/>
          <a:lstStyle/>
          <a:p>
            <a:pPr marL="12700">
              <a:spcBef>
                <a:spcPts val="15"/>
              </a:spcBef>
            </a:pPr>
            <a:r>
              <a:rPr lang="es-CO" spc="-5" noProof="0" dirty="0"/>
              <a:t>LAB 0.1. MODESOLVER</a:t>
            </a:r>
          </a:p>
        </p:txBody>
      </p:sp>
      <p:sp>
        <p:nvSpPr>
          <p:cNvPr id="2" name="CuadroTexto 1">
            <a:extLst>
              <a:ext uri="{FF2B5EF4-FFF2-40B4-BE49-F238E27FC236}">
                <a16:creationId xmlns:a16="http://schemas.microsoft.com/office/drawing/2014/main" id="{DE977BA9-63D1-A3AC-3821-011EF304D0A2}"/>
              </a:ext>
            </a:extLst>
          </p:cNvPr>
          <p:cNvSpPr txBox="1"/>
          <p:nvPr/>
        </p:nvSpPr>
        <p:spPr>
          <a:xfrm>
            <a:off x="609441" y="4538008"/>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noProof="0" dirty="0">
                <a:latin typeface="Arial" panose="020B0604020202020204" pitchFamily="34" charset="0"/>
                <a:cs typeface="Arial" panose="020B0604020202020204" pitchFamily="34" charset="0"/>
              </a:rPr>
              <a:t>It is observed that with </a:t>
            </a:r>
            <a:r>
              <a:rPr lang="en-US" sz="1200" b="1" noProof="0" dirty="0">
                <a:latin typeface="Arial" panose="020B0604020202020204" pitchFamily="34" charset="0"/>
                <a:cs typeface="Arial" panose="020B0604020202020204" pitchFamily="34" charset="0"/>
              </a:rPr>
              <a:t>SOI</a:t>
            </a:r>
            <a:r>
              <a:rPr lang="en-US" sz="1200" noProof="0" dirty="0">
                <a:latin typeface="Arial" panose="020B0604020202020204" pitchFamily="34" charset="0"/>
                <a:cs typeface="Arial" panose="020B0604020202020204" pitchFamily="34" charset="0"/>
              </a:rPr>
              <a:t>, increasing the width of the waveguide allows higher-order modes to appear more rapidly. While in </a:t>
            </a:r>
            <a:r>
              <a:rPr lang="en-US" sz="1200" noProof="0" dirty="0" err="1">
                <a:latin typeface="Arial" panose="020B0604020202020204" pitchFamily="34" charset="0"/>
                <a:cs typeface="Arial" panose="020B0604020202020204" pitchFamily="34" charset="0"/>
              </a:rPr>
              <a:t>SiNx</a:t>
            </a:r>
            <a:r>
              <a:rPr lang="en-US" sz="1200" noProof="0" dirty="0">
                <a:latin typeface="Arial" panose="020B0604020202020204" pitchFamily="34" charset="0"/>
                <a:cs typeface="Arial" panose="020B0604020202020204" pitchFamily="34" charset="0"/>
              </a:rPr>
              <a:t> a higher-order mode begins to propagate after increasing the width by about 0.7 µm, in SOI higher-order modes appear after increasing the width by only 0.2 µm. This must be carefully considered during fabrication, since if a single-mode waveguide is required for one polarization, fabrication with SOI could be more sensitive to dimensional variations. Additionally, it is important to highlight that in SOI polarization conversion occurs around a width of 0.7 µm, where mode 1 changes from magnetic polarization to electric polarization. This behavior also occurs for higher-order modes, where they transition from one polarization to the other. In contrast, for </a:t>
            </a:r>
            <a:r>
              <a:rPr lang="en-US" sz="1200" noProof="0" dirty="0" err="1">
                <a:latin typeface="Arial" panose="020B0604020202020204" pitchFamily="34" charset="0"/>
                <a:cs typeface="Arial" panose="020B0604020202020204" pitchFamily="34" charset="0"/>
              </a:rPr>
              <a:t>SiNx</a:t>
            </a:r>
            <a:r>
              <a:rPr lang="en-US" sz="1200" noProof="0" dirty="0">
                <a:latin typeface="Arial" panose="020B0604020202020204" pitchFamily="34" charset="0"/>
                <a:cs typeface="Arial" panose="020B0604020202020204" pitchFamily="34" charset="0"/>
              </a:rPr>
              <a:t> the polarization does not change.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Finally, in this case t</a:t>
            </a:r>
            <a:r>
              <a:rPr lang="en-US" sz="1200" noProof="0" dirty="0">
                <a:latin typeface="Arial" panose="020B0604020202020204" pitchFamily="34" charset="0"/>
                <a:cs typeface="Arial" panose="020B0604020202020204" pitchFamily="34" charset="0"/>
              </a:rPr>
              <a:t>he effective index of mode 0 increases from 1.79 to 2.72, corresponding to a difference of 0.93. This indicates that increasing the waveguide width significantly increases mode confinement. When compared with the </a:t>
            </a:r>
            <a:r>
              <a:rPr lang="en-US" sz="1200" noProof="0" dirty="0" err="1">
                <a:latin typeface="Arial" panose="020B0604020202020204" pitchFamily="34" charset="0"/>
                <a:cs typeface="Arial" panose="020B0604020202020204" pitchFamily="34" charset="0"/>
              </a:rPr>
              <a:t>SiNx</a:t>
            </a:r>
            <a:r>
              <a:rPr lang="en-US" sz="1200" noProof="0" dirty="0">
                <a:latin typeface="Arial" panose="020B0604020202020204" pitchFamily="34" charset="0"/>
                <a:cs typeface="Arial" panose="020B0604020202020204" pitchFamily="34" charset="0"/>
              </a:rPr>
              <a:t> case, where the increase for mode 0 was 0.121, the SOI increase is about 7.68 times larger. This is related to the refractive index contrast between the cladding and the core, since in SOI this contrast is much higher, which allows stronger confinement of the modes.</a:t>
            </a:r>
            <a:endParaRPr lang="es-CO"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4966147-56E4-AF36-B4E5-D67DCD6AB9A3}"/>
              </a:ext>
            </a:extLst>
          </p:cNvPr>
          <p:cNvSpPr/>
          <p:nvPr/>
        </p:nvSpPr>
        <p:spPr>
          <a:xfrm>
            <a:off x="609441" y="1295400"/>
            <a:ext cx="11199971" cy="328435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sp>
        <p:nvSpPr>
          <p:cNvPr id="8" name="CuadroTexto 7">
            <a:extLst>
              <a:ext uri="{FF2B5EF4-FFF2-40B4-BE49-F238E27FC236}">
                <a16:creationId xmlns:a16="http://schemas.microsoft.com/office/drawing/2014/main" id="{6A634A27-6B4B-7FF3-3617-F7496A83A668}"/>
              </a:ext>
            </a:extLst>
          </p:cNvPr>
          <p:cNvSpPr txBox="1"/>
          <p:nvPr/>
        </p:nvSpPr>
        <p:spPr>
          <a:xfrm>
            <a:off x="2286000" y="2671278"/>
            <a:ext cx="7718580" cy="923330"/>
          </a:xfrm>
          <a:prstGeom prst="rect">
            <a:avLst/>
          </a:prstGeom>
          <a:noFill/>
        </p:spPr>
        <p:txBody>
          <a:bodyPr wrap="square" rtlCol="0">
            <a:spAutoFit/>
          </a:bodyPr>
          <a:lstStyle/>
          <a:p>
            <a:pPr algn="ctr"/>
            <a:r>
              <a:rPr lang="es-CO" b="1" noProof="0" dirty="0" err="1"/>
              <a:t>deep</a:t>
            </a:r>
            <a:r>
              <a:rPr lang="es-CO" noProof="0" dirty="0"/>
              <a:t> </a:t>
            </a:r>
            <a:r>
              <a:rPr lang="es-CO" noProof="0" dirty="0" err="1"/>
              <a:t>waveguide</a:t>
            </a:r>
            <a:endParaRPr lang="es-CO" noProof="0" dirty="0"/>
          </a:p>
          <a:p>
            <a:pPr algn="ctr"/>
            <a:endParaRPr lang="es-CO" noProof="0" dirty="0"/>
          </a:p>
          <a:p>
            <a:pPr algn="ctr"/>
            <a:r>
              <a:rPr lang="es-CO" noProof="0" dirty="0"/>
              <a:t>Paste </a:t>
            </a:r>
            <a:r>
              <a:rPr lang="es-CO" noProof="0" dirty="0" err="1"/>
              <a:t>plot</a:t>
            </a:r>
            <a:r>
              <a:rPr lang="es-CO" noProof="0" dirty="0"/>
              <a:t> </a:t>
            </a:r>
            <a:r>
              <a:rPr lang="es-CO" noProof="0" dirty="0" err="1"/>
              <a:t>here</a:t>
            </a:r>
            <a:endParaRPr lang="es-CO" noProof="0" dirty="0"/>
          </a:p>
        </p:txBody>
      </p:sp>
      <p:pic>
        <p:nvPicPr>
          <p:cNvPr id="5" name="Imagen 4">
            <a:extLst>
              <a:ext uri="{FF2B5EF4-FFF2-40B4-BE49-F238E27FC236}">
                <a16:creationId xmlns:a16="http://schemas.microsoft.com/office/drawing/2014/main" id="{81876288-F10C-8879-8A29-A48857CD2936}"/>
              </a:ext>
            </a:extLst>
          </p:cNvPr>
          <p:cNvPicPr>
            <a:picLocks noChangeAspect="1"/>
          </p:cNvPicPr>
          <p:nvPr/>
        </p:nvPicPr>
        <p:blipFill>
          <a:blip r:embed="rId5"/>
          <a:stretch>
            <a:fillRect/>
          </a:stretch>
        </p:blipFill>
        <p:spPr>
          <a:xfrm>
            <a:off x="3562653" y="1396779"/>
            <a:ext cx="5293546" cy="3081600"/>
          </a:xfrm>
          <a:prstGeom prst="rect">
            <a:avLst/>
          </a:prstGeom>
        </p:spPr>
      </p:pic>
    </p:spTree>
    <p:extLst>
      <p:ext uri="{BB962C8B-B14F-4D97-AF65-F5344CB8AC3E}">
        <p14:creationId xmlns:p14="http://schemas.microsoft.com/office/powerpoint/2010/main" val="320876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0"/>
            <a:ext cx="10994410" cy="782265"/>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#3 – </a:t>
            </a:r>
            <a:r>
              <a:rPr lang="es-CO" sz="2500" noProof="0" dirty="0" err="1"/>
              <a:t>Waveguide</a:t>
            </a:r>
            <a:r>
              <a:rPr lang="es-CO" sz="2500" noProof="0" dirty="0"/>
              <a:t> compact </a:t>
            </a:r>
            <a:r>
              <a:rPr lang="es-CO" sz="2500" noProof="0" dirty="0" err="1"/>
              <a:t>model</a:t>
            </a:r>
            <a:br>
              <a:rPr lang="es-CO" b="0" noProof="0" dirty="0"/>
            </a:b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CO" noProof="0" smtClean="0"/>
              <a:t>7</a:t>
            </a:fld>
            <a:endParaRPr lang="es-CO" noProof="0" dirty="0"/>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CO" spc="-5" noProof="0" dirty="0"/>
              <a:t>LAB 1.0. WAVEGUIDES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A440F587-93A3-E474-C0B0-883BB9DAFD85}"/>
                  </a:ext>
                </a:extLst>
              </p:cNvPr>
              <p:cNvSpPr txBox="1"/>
              <p:nvPr/>
            </p:nvSpPr>
            <p:spPr>
              <a:xfrm>
                <a:off x="4724400" y="457200"/>
                <a:ext cx="7327743" cy="564225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T</a:t>
                </a:r>
                <a:r>
                  <a:rPr lang="en-US" sz="1200" noProof="0" dirty="0">
                    <a:latin typeface="Arial" panose="020B0604020202020204" pitchFamily="34" charset="0"/>
                    <a:cs typeface="Arial" panose="020B0604020202020204" pitchFamily="34" charset="0"/>
                  </a:rPr>
                  <a:t>he graphs show that a second-degree polynomial fit provides a very good representation of the obtained data in both cases. Using this representation, the results presented in the following table were obtained.</a:t>
                </a:r>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endParaRPr lang="es-CO"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the case of the shallow waveguide, the TE0 and TM0 modes travel more confined compared to the deep waveguide. This is because in the shallow waveguide a slab was introduced, which allows the structure to capture a larger portion of the modal energy. Regarding the group indices, we observe that the deep waveguide introduces slightly more delay than the shallow waveguide. Additionally, the TE mode experiences more delay than the TM mode.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Another relationship can also be observed: the stronger the confinement, the smaller the group index. At this point, it is important to evaluate the objective of the device. If the goal is to introduce a delay in the signal, this behavior could be useful, as it may generate a phase shift if that is desired. It is also important to note that the free spectral range (FSR) depends on the group index, since</a:t>
                </a:r>
                <a:endParaRPr lang="es-CO"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cs typeface="Arial" panose="020B0604020202020204" pitchFamily="34" charset="0"/>
                        </a:rPr>
                        <m:t>𝐹𝑆𝑅</m:t>
                      </m:r>
                      <m:r>
                        <a:rPr lang="es-ES" sz="1200" b="0" i="1" smtClean="0">
                          <a:latin typeface="Cambria Math" panose="02040503050406030204" pitchFamily="18" charset="0"/>
                          <a:ea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ea typeface="Cambria Math" panose="02040503050406030204" pitchFamily="18" charset="0"/>
                              <a:cs typeface="Arial" panose="020B0604020202020204" pitchFamily="34" charset="0"/>
                            </a:rPr>
                            <m:t>1</m:t>
                          </m:r>
                        </m:num>
                        <m:den>
                          <m:r>
                            <a:rPr lang="es-ES" sz="1200" b="0" i="1" smtClean="0">
                              <a:latin typeface="Cambria Math" panose="02040503050406030204" pitchFamily="18" charset="0"/>
                              <a:ea typeface="Cambria Math" panose="02040503050406030204" pitchFamily="18" charset="0"/>
                              <a:cs typeface="Arial" panose="020B0604020202020204" pitchFamily="34" charset="0"/>
                            </a:rPr>
                            <m:t>𝑛𝑔</m:t>
                          </m:r>
                        </m:den>
                      </m:f>
                    </m:oMath>
                  </m:oMathPara>
                </a14:m>
                <a:endParaRPr lang="es-CO" sz="120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Therefore, if a large FSR is desired, the waveguide should be designed such that the group index is small; otherwise, increasing the group index will reduce the FSR.</a:t>
                </a:r>
              </a:p>
              <a:p>
                <a:pPr algn="just"/>
                <a:endParaRPr lang="en-US" sz="1200" noProof="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Now, regarding dispersion, we observe that it is very small in both cases, which is positive since the signal entering the waveguide will not experience significant distortion. In this case, we see that the TM0 mode of the deep waveguide undergoes almost twice the deformation compared to the other modes. For the TE0 mode, the results are very similar for both waveguides. This may be because the parabolic growth in both cases is very similar, meaning that the effective index varies by a similar amount as the wavelength increases. In other words, the parameter n_3​ in the approximation is similar for both cases.</a:t>
                </a:r>
                <a:endParaRPr lang="es-CO" sz="1200" noProof="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A440F587-93A3-E474-C0B0-883BB9DAFD85}"/>
                  </a:ext>
                </a:extLst>
              </p:cNvPr>
              <p:cNvSpPr txBox="1">
                <a:spLocks noRot="1" noChangeAspect="1" noMove="1" noResize="1" noEditPoints="1" noAdjustHandles="1" noChangeArrowheads="1" noChangeShapeType="1" noTextEdit="1"/>
              </p:cNvSpPr>
              <p:nvPr/>
            </p:nvSpPr>
            <p:spPr>
              <a:xfrm>
                <a:off x="4724400" y="457200"/>
                <a:ext cx="7327743" cy="5642250"/>
              </a:xfrm>
              <a:prstGeom prst="rect">
                <a:avLst/>
              </a:prstGeom>
              <a:blipFill>
                <a:blip r:embed="rId5"/>
                <a:stretch>
                  <a:fillRect/>
                </a:stretch>
              </a:blipFill>
              <a:ln w="28575">
                <a:solidFill>
                  <a:srgbClr val="E0700D"/>
                </a:solidFill>
              </a:ln>
            </p:spPr>
            <p:txBody>
              <a:bodyPr/>
              <a:lstStyle/>
              <a:p>
                <a:r>
                  <a:rPr lang="es-CO">
                    <a:noFill/>
                  </a:rPr>
                  <a:t> </a:t>
                </a:r>
              </a:p>
            </p:txBody>
          </p:sp>
        </mc:Fallback>
      </mc:AlternateContent>
      <p:sp>
        <p:nvSpPr>
          <p:cNvPr id="5" name="Rectángulo 4">
            <a:extLst>
              <a:ext uri="{FF2B5EF4-FFF2-40B4-BE49-F238E27FC236}">
                <a16:creationId xmlns:a16="http://schemas.microsoft.com/office/drawing/2014/main" id="{A6B92C76-6772-2E00-346F-532321092C04}"/>
              </a:ext>
            </a:extLst>
          </p:cNvPr>
          <p:cNvSpPr/>
          <p:nvPr/>
        </p:nvSpPr>
        <p:spPr>
          <a:xfrm>
            <a:off x="76200" y="457200"/>
            <a:ext cx="4572000" cy="564225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17" name="Imagen 16" descr="Gráfico, Gráfico de líneas&#10;&#10;El contenido generado por IA puede ser incorrecto.">
            <a:extLst>
              <a:ext uri="{FF2B5EF4-FFF2-40B4-BE49-F238E27FC236}">
                <a16:creationId xmlns:a16="http://schemas.microsoft.com/office/drawing/2014/main" id="{BE94B7BA-BEA9-77DB-25D4-B0C1E1B7A340}"/>
              </a:ext>
            </a:extLst>
          </p:cNvPr>
          <p:cNvPicPr>
            <a:picLocks noChangeAspect="1"/>
          </p:cNvPicPr>
          <p:nvPr/>
        </p:nvPicPr>
        <p:blipFill>
          <a:blip r:embed="rId6"/>
          <a:stretch>
            <a:fillRect/>
          </a:stretch>
        </p:blipFill>
        <p:spPr>
          <a:xfrm>
            <a:off x="112200" y="3560811"/>
            <a:ext cx="4500000" cy="2332004"/>
          </a:xfrm>
          <a:prstGeom prst="rect">
            <a:avLst/>
          </a:prstGeom>
        </p:spPr>
      </p:pic>
      <p:pic>
        <p:nvPicPr>
          <p:cNvPr id="19" name="Imagen 18" descr="Gráfico, Gráfico de líneas&#10;&#10;El contenido generado por IA puede ser incorrecto.">
            <a:extLst>
              <a:ext uri="{FF2B5EF4-FFF2-40B4-BE49-F238E27FC236}">
                <a16:creationId xmlns:a16="http://schemas.microsoft.com/office/drawing/2014/main" id="{E5F3E715-F114-4B12-4BFA-AFC8E512D656}"/>
              </a:ext>
            </a:extLst>
          </p:cNvPr>
          <p:cNvPicPr>
            <a:picLocks noChangeAspect="1"/>
          </p:cNvPicPr>
          <p:nvPr/>
        </p:nvPicPr>
        <p:blipFill>
          <a:blip r:embed="rId7"/>
          <a:stretch>
            <a:fillRect/>
          </a:stretch>
        </p:blipFill>
        <p:spPr>
          <a:xfrm>
            <a:off x="139857" y="883900"/>
            <a:ext cx="4500000" cy="2332004"/>
          </a:xfrm>
          <a:prstGeom prst="rect">
            <a:avLst/>
          </a:prstGeom>
        </p:spPr>
      </p:pic>
      <p:graphicFrame>
        <p:nvGraphicFramePr>
          <p:cNvPr id="11" name="Objeto 10">
            <a:extLst>
              <a:ext uri="{FF2B5EF4-FFF2-40B4-BE49-F238E27FC236}">
                <a16:creationId xmlns:a16="http://schemas.microsoft.com/office/drawing/2014/main" id="{6E37E43D-E55A-5DBF-D13B-37751B48B169}"/>
              </a:ext>
            </a:extLst>
          </p:cNvPr>
          <p:cNvGraphicFramePr>
            <a:graphicFrameLocks noChangeAspect="1"/>
          </p:cNvGraphicFramePr>
          <p:nvPr>
            <p:extLst>
              <p:ext uri="{D42A27DB-BD31-4B8C-83A1-F6EECF244321}">
                <p14:modId xmlns:p14="http://schemas.microsoft.com/office/powerpoint/2010/main" val="70288703"/>
              </p:ext>
            </p:extLst>
          </p:nvPr>
        </p:nvGraphicFramePr>
        <p:xfrm>
          <a:off x="6535293" y="1038872"/>
          <a:ext cx="3429000" cy="897868"/>
        </p:xfrm>
        <a:graphic>
          <a:graphicData uri="http://schemas.openxmlformats.org/presentationml/2006/ole">
            <mc:AlternateContent xmlns:mc="http://schemas.openxmlformats.org/markup-compatibility/2006">
              <mc:Choice xmlns:v="urn:schemas-microsoft-com:vml" Requires="v">
                <p:oleObj name="Worksheet" r:id="rId8" imgW="3819552" imgH="1000026" progId="Excel.Sheet.12">
                  <p:embed/>
                </p:oleObj>
              </mc:Choice>
              <mc:Fallback>
                <p:oleObj name="Worksheet" r:id="rId8" imgW="3819552" imgH="1000026" progId="Excel.Sheet.12">
                  <p:embed/>
                  <p:pic>
                    <p:nvPicPr>
                      <p:cNvPr id="11" name="Objeto 10">
                        <a:extLst>
                          <a:ext uri="{FF2B5EF4-FFF2-40B4-BE49-F238E27FC236}">
                            <a16:creationId xmlns:a16="http://schemas.microsoft.com/office/drawing/2014/main" id="{6E37E43D-E55A-5DBF-D13B-37751B48B169}"/>
                          </a:ext>
                        </a:extLst>
                      </p:cNvPr>
                      <p:cNvPicPr/>
                      <p:nvPr/>
                    </p:nvPicPr>
                    <p:blipFill>
                      <a:blip r:embed="rId9"/>
                      <a:stretch>
                        <a:fillRect/>
                      </a:stretch>
                    </p:blipFill>
                    <p:spPr>
                      <a:xfrm>
                        <a:off x="6535293" y="1038872"/>
                        <a:ext cx="3429000" cy="897868"/>
                      </a:xfrm>
                      <a:prstGeom prst="rect">
                        <a:avLst/>
                      </a:prstGeom>
                    </p:spPr>
                  </p:pic>
                </p:oleObj>
              </mc:Fallback>
            </mc:AlternateContent>
          </a:graphicData>
        </a:graphic>
      </p:graphicFrame>
    </p:spTree>
    <p:extLst>
      <p:ext uri="{BB962C8B-B14F-4D97-AF65-F5344CB8AC3E}">
        <p14:creationId xmlns:p14="http://schemas.microsoft.com/office/powerpoint/2010/main" val="236054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B645C-5BE0-570F-5327-694745F9693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7E1AE8D-9ACF-2354-CC59-BFABC15F7292}"/>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#4 – Bend </a:t>
            </a:r>
            <a:r>
              <a:rPr lang="es-CO" sz="2500" noProof="0" dirty="0" err="1"/>
              <a:t>waveguide</a:t>
            </a:r>
            <a:r>
              <a:rPr lang="es-CO" sz="2500" noProof="0" dirty="0"/>
              <a:t> </a:t>
            </a:r>
            <a:r>
              <a:rPr lang="es-CO" sz="2500" noProof="0" dirty="0" err="1"/>
              <a:t>radius</a:t>
            </a:r>
            <a:r>
              <a:rPr lang="es-CO" sz="2500" noProof="0" dirty="0"/>
              <a:t> vs. </a:t>
            </a:r>
            <a:r>
              <a:rPr lang="es-CO" sz="2500" noProof="0" dirty="0" err="1"/>
              <a:t>loss</a:t>
            </a:r>
            <a:r>
              <a:rPr lang="es-CO" sz="2500" noProof="0" dirty="0"/>
              <a:t> – </a:t>
            </a:r>
            <a:r>
              <a:rPr lang="es-CO" sz="2500" noProof="0" dirty="0" err="1"/>
              <a:t>deep</a:t>
            </a:r>
            <a:br>
              <a:rPr lang="es-CO" sz="2500" noProof="0" dirty="0"/>
            </a:br>
            <a:r>
              <a:rPr lang="es-CO" b="0" noProof="0" dirty="0" err="1"/>
              <a:t>Find</a:t>
            </a:r>
            <a:r>
              <a:rPr lang="es-CO" b="0" noProof="0" dirty="0"/>
              <a:t>  neff_TE0 </a:t>
            </a:r>
            <a:r>
              <a:rPr lang="es-CO" b="0" noProof="0" dirty="0" err="1"/>
              <a:t>for</a:t>
            </a:r>
            <a:r>
              <a:rPr lang="es-CO" b="0" noProof="0" dirty="0"/>
              <a:t> </a:t>
            </a:r>
            <a:r>
              <a:rPr lang="es-CO" b="0" noProof="0" dirty="0" err="1"/>
              <a:t>wvl</a:t>
            </a:r>
            <a:r>
              <a:rPr lang="es-CO" b="0" noProof="0" dirty="0"/>
              <a:t> 1.55 µm, </a:t>
            </a:r>
            <a:r>
              <a:rPr lang="es-CO" b="0" noProof="0" dirty="0" err="1"/>
              <a:t>width</a:t>
            </a:r>
            <a:r>
              <a:rPr lang="es-CO" b="0" noProof="0" dirty="0"/>
              <a:t> 1.0 µm </a:t>
            </a:r>
            <a:r>
              <a:rPr lang="es-CO" b="0" noProof="0" dirty="0" err="1"/>
              <a:t>for</a:t>
            </a:r>
            <a:r>
              <a:rPr lang="es-CO" b="0" noProof="0" dirty="0"/>
              <a:t> R=25,50,75,100, 125,150 µm</a:t>
            </a:r>
            <a:br>
              <a:rPr lang="es-CO" sz="2500" noProof="0" dirty="0"/>
            </a:b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A24EF32E-6ED2-B963-7636-898BBEDBA6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D4647FB-800E-DA36-C2FE-7C8EA6DC9691}"/>
              </a:ext>
            </a:extLst>
          </p:cNvPr>
          <p:cNvSpPr>
            <a:spLocks noGrp="1"/>
          </p:cNvSpPr>
          <p:nvPr>
            <p:ph type="sldNum" sz="quarter" idx="7"/>
          </p:nvPr>
        </p:nvSpPr>
        <p:spPr/>
        <p:txBody>
          <a:bodyPr/>
          <a:lstStyle/>
          <a:p>
            <a:fld id="{B6F15528-21DE-4FAA-801E-634DDDAF4B2B}" type="slidenum">
              <a:rPr lang="es-CO" noProof="0" smtClean="0"/>
              <a:t>8</a:t>
            </a:fld>
            <a:endParaRPr lang="es-CO" noProof="0" dirty="0"/>
          </a:p>
        </p:txBody>
      </p:sp>
      <p:sp>
        <p:nvSpPr>
          <p:cNvPr id="3" name="Marcador de pie de página 2">
            <a:extLst>
              <a:ext uri="{FF2B5EF4-FFF2-40B4-BE49-F238E27FC236}">
                <a16:creationId xmlns:a16="http://schemas.microsoft.com/office/drawing/2014/main" id="{958FB840-E1F5-33DD-9DAB-429D7F76EDEC}"/>
              </a:ext>
            </a:extLst>
          </p:cNvPr>
          <p:cNvSpPr>
            <a:spLocks noGrp="1"/>
          </p:cNvSpPr>
          <p:nvPr>
            <p:ph type="ftr" sz="quarter" idx="5"/>
          </p:nvPr>
        </p:nvSpPr>
        <p:spPr/>
        <p:txBody>
          <a:bodyPr/>
          <a:lstStyle/>
          <a:p>
            <a:pPr marL="12700">
              <a:spcBef>
                <a:spcPts val="15"/>
              </a:spcBef>
            </a:pPr>
            <a:r>
              <a:rPr lang="es-CO" spc="-5" noProof="0" dirty="0"/>
              <a:t>LAB 1.0. WAVEGUIDES</a:t>
            </a:r>
          </a:p>
        </p:txBody>
      </p:sp>
      <p:sp>
        <p:nvSpPr>
          <p:cNvPr id="2" name="CuadroTexto 1">
            <a:extLst>
              <a:ext uri="{FF2B5EF4-FFF2-40B4-BE49-F238E27FC236}">
                <a16:creationId xmlns:a16="http://schemas.microsoft.com/office/drawing/2014/main" id="{A37F1F9D-67A3-DD8C-671F-BABC77D09ACF}"/>
              </a:ext>
            </a:extLst>
          </p:cNvPr>
          <p:cNvSpPr txBox="1"/>
          <p:nvPr/>
        </p:nvSpPr>
        <p:spPr>
          <a:xfrm>
            <a:off x="384408" y="4860334"/>
            <a:ext cx="11578992"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noProof="0" dirty="0">
                <a:latin typeface="Arial" panose="020B0604020202020204" pitchFamily="34" charset="0"/>
                <a:cs typeface="Arial" panose="020B0604020202020204" pitchFamily="34" charset="0"/>
              </a:rPr>
              <a:t>First, we analyze how the effective index changes with respect to the bending radius. We find that in both cases (TE0 and TM0), as the bending radius increases, the effective index slightly decreases. This means that the modes become slightly less confined, approaching the refractive index of the cladding. In both cases the variation is extremely small; as seen in the first graph, the change is almost negligible compared with the scale used.</a:t>
            </a:r>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4F23A60D-C265-66E7-2CFE-E46C0ED91B71}"/>
              </a:ext>
            </a:extLst>
          </p:cNvPr>
          <p:cNvSpPr/>
          <p:nvPr/>
        </p:nvSpPr>
        <p:spPr>
          <a:xfrm>
            <a:off x="384407" y="1418373"/>
            <a:ext cx="1157899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6" name="Imagen 5">
            <a:extLst>
              <a:ext uri="{FF2B5EF4-FFF2-40B4-BE49-F238E27FC236}">
                <a16:creationId xmlns:a16="http://schemas.microsoft.com/office/drawing/2014/main" id="{C8881E33-4973-CE6F-FF02-90A7E17A6ECA}"/>
              </a:ext>
            </a:extLst>
          </p:cNvPr>
          <p:cNvPicPr>
            <a:picLocks noChangeAspect="1"/>
          </p:cNvPicPr>
          <p:nvPr/>
        </p:nvPicPr>
        <p:blipFill>
          <a:blip r:embed="rId5"/>
          <a:stretch>
            <a:fillRect/>
          </a:stretch>
        </p:blipFill>
        <p:spPr>
          <a:xfrm>
            <a:off x="4182950" y="1599603"/>
            <a:ext cx="3816000" cy="2520000"/>
          </a:xfrm>
          <a:prstGeom prst="rect">
            <a:avLst/>
          </a:prstGeom>
        </p:spPr>
      </p:pic>
      <p:pic>
        <p:nvPicPr>
          <p:cNvPr id="11" name="Imagen 10">
            <a:extLst>
              <a:ext uri="{FF2B5EF4-FFF2-40B4-BE49-F238E27FC236}">
                <a16:creationId xmlns:a16="http://schemas.microsoft.com/office/drawing/2014/main" id="{15D1BE85-4493-1427-0BAF-44F363E72E27}"/>
              </a:ext>
            </a:extLst>
          </p:cNvPr>
          <p:cNvPicPr>
            <a:picLocks noChangeAspect="1"/>
          </p:cNvPicPr>
          <p:nvPr/>
        </p:nvPicPr>
        <p:blipFill>
          <a:blip r:embed="rId6"/>
          <a:stretch>
            <a:fillRect/>
          </a:stretch>
        </p:blipFill>
        <p:spPr>
          <a:xfrm>
            <a:off x="7997131" y="1600222"/>
            <a:ext cx="3810462" cy="2520000"/>
          </a:xfrm>
          <a:prstGeom prst="rect">
            <a:avLst/>
          </a:prstGeom>
        </p:spPr>
      </p:pic>
      <p:pic>
        <p:nvPicPr>
          <p:cNvPr id="15" name="Imagen 14">
            <a:extLst>
              <a:ext uri="{FF2B5EF4-FFF2-40B4-BE49-F238E27FC236}">
                <a16:creationId xmlns:a16="http://schemas.microsoft.com/office/drawing/2014/main" id="{4FD8E334-D474-A5DC-4D0D-2F704BC628CA}"/>
              </a:ext>
            </a:extLst>
          </p:cNvPr>
          <p:cNvPicPr>
            <a:picLocks noChangeAspect="1"/>
          </p:cNvPicPr>
          <p:nvPr/>
        </p:nvPicPr>
        <p:blipFill>
          <a:blip r:embed="rId7"/>
          <a:stretch>
            <a:fillRect/>
          </a:stretch>
        </p:blipFill>
        <p:spPr>
          <a:xfrm>
            <a:off x="510950" y="1599603"/>
            <a:ext cx="3672000" cy="2520000"/>
          </a:xfrm>
          <a:prstGeom prst="rect">
            <a:avLst/>
          </a:prstGeom>
        </p:spPr>
      </p:pic>
    </p:spTree>
    <p:extLst>
      <p:ext uri="{BB962C8B-B14F-4D97-AF65-F5344CB8AC3E}">
        <p14:creationId xmlns:p14="http://schemas.microsoft.com/office/powerpoint/2010/main" val="1614917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s-CO" sz="2500" noProof="0" dirty="0" err="1"/>
              <a:t>Learning</a:t>
            </a:r>
            <a:r>
              <a:rPr lang="es-CO" sz="2500" noProof="0" dirty="0"/>
              <a:t> </a:t>
            </a:r>
            <a:r>
              <a:rPr lang="es-CO" sz="2500" noProof="0" dirty="0" err="1"/>
              <a:t>outcome</a:t>
            </a:r>
            <a:r>
              <a:rPr lang="es-CO" sz="2500" noProof="0" dirty="0"/>
              <a:t> #4 – Bend </a:t>
            </a:r>
            <a:r>
              <a:rPr lang="es-CO" sz="2500" noProof="0" dirty="0" err="1"/>
              <a:t>waveguide</a:t>
            </a:r>
            <a:r>
              <a:rPr lang="es-CO" sz="2500" noProof="0" dirty="0"/>
              <a:t> </a:t>
            </a:r>
            <a:r>
              <a:rPr lang="es-CO" sz="2500" noProof="0" dirty="0" err="1"/>
              <a:t>radius</a:t>
            </a:r>
            <a:r>
              <a:rPr lang="es-CO" sz="2500" noProof="0" dirty="0"/>
              <a:t> vs. </a:t>
            </a:r>
            <a:r>
              <a:rPr lang="es-CO" sz="2500" noProof="0" dirty="0" err="1"/>
              <a:t>loss</a:t>
            </a:r>
            <a:r>
              <a:rPr lang="es-CO" sz="2500" noProof="0" dirty="0"/>
              <a:t> – </a:t>
            </a:r>
            <a:r>
              <a:rPr lang="es-CO" sz="2500" noProof="0" dirty="0" err="1"/>
              <a:t>deep</a:t>
            </a:r>
            <a:br>
              <a:rPr lang="es-CO" sz="2500" noProof="0" dirty="0"/>
            </a:br>
            <a:r>
              <a:rPr lang="es-CO" b="0" noProof="0" dirty="0" err="1"/>
              <a:t>Find</a:t>
            </a:r>
            <a:r>
              <a:rPr lang="es-CO" b="0" noProof="0" dirty="0"/>
              <a:t>  neff_TE0 </a:t>
            </a:r>
            <a:r>
              <a:rPr lang="es-CO" b="0" noProof="0" dirty="0" err="1"/>
              <a:t>for</a:t>
            </a:r>
            <a:r>
              <a:rPr lang="es-CO" b="0" noProof="0" dirty="0"/>
              <a:t> </a:t>
            </a:r>
            <a:r>
              <a:rPr lang="es-CO" b="0" noProof="0" dirty="0" err="1"/>
              <a:t>wvl</a:t>
            </a:r>
            <a:r>
              <a:rPr lang="es-CO" b="0" noProof="0" dirty="0"/>
              <a:t> 1.55 µm, </a:t>
            </a:r>
            <a:r>
              <a:rPr lang="es-CO" b="0" noProof="0" dirty="0" err="1"/>
              <a:t>width</a:t>
            </a:r>
            <a:r>
              <a:rPr lang="es-CO" b="0" noProof="0" dirty="0"/>
              <a:t> 1.0 µm </a:t>
            </a:r>
            <a:r>
              <a:rPr lang="es-CO" b="0" noProof="0" dirty="0" err="1"/>
              <a:t>for</a:t>
            </a:r>
            <a:r>
              <a:rPr lang="es-CO" b="0" noProof="0" dirty="0"/>
              <a:t> R=25,50,75,100, 125,150 µm</a:t>
            </a:r>
            <a:br>
              <a:rPr lang="es-CO" sz="2500" noProof="0" dirty="0"/>
            </a:b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CO" noProof="0" smtClean="0"/>
              <a:t>9</a:t>
            </a:fld>
            <a:endParaRPr lang="es-CO" noProof="0" dirty="0"/>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CO" spc="-5" noProof="0" dirty="0"/>
              <a:t>LAB 1.0. WAVEGUIDES</a:t>
            </a:r>
          </a:p>
        </p:txBody>
      </p:sp>
      <p:sp>
        <p:nvSpPr>
          <p:cNvPr id="2" name="CuadroTexto 1">
            <a:extLst>
              <a:ext uri="{FF2B5EF4-FFF2-40B4-BE49-F238E27FC236}">
                <a16:creationId xmlns:a16="http://schemas.microsoft.com/office/drawing/2014/main" id="{FDE3A197-9508-F9F1-1FEB-FF883D78C151}"/>
              </a:ext>
            </a:extLst>
          </p:cNvPr>
          <p:cNvSpPr txBox="1"/>
          <p:nvPr/>
        </p:nvSpPr>
        <p:spPr>
          <a:xfrm>
            <a:off x="6670198" y="1397590"/>
            <a:ext cx="5165997" cy="4708981"/>
          </a:xfrm>
          <a:prstGeom prst="rect">
            <a:avLst/>
          </a:prstGeom>
          <a:solidFill>
            <a:schemeClr val="bg1">
              <a:lumMod val="95000"/>
            </a:schemeClr>
          </a:solidFill>
          <a:ln w="28575">
            <a:solidFill>
              <a:srgbClr val="E0700D"/>
            </a:solidFill>
          </a:ln>
        </p:spPr>
        <p:txBody>
          <a:bodyPr wrap="square" rtlCol="0">
            <a:spAutoFit/>
          </a:bodyPr>
          <a:lstStyle/>
          <a:p>
            <a:pPr algn="just"/>
            <a:r>
              <a:rPr lang="en-US" sz="1200" noProof="0" dirty="0">
                <a:latin typeface="Arial" panose="020B0604020202020204" pitchFamily="34" charset="0"/>
                <a:cs typeface="Arial" panose="020B0604020202020204" pitchFamily="34" charset="0"/>
              </a:rPr>
              <a:t>Next, when analyzing the losses, we find that </a:t>
            </a:r>
            <a:r>
              <a:rPr lang="en-US" sz="1200" dirty="0">
                <a:latin typeface="Arial" panose="020B0604020202020204" pitchFamily="34" charset="0"/>
                <a:cs typeface="Arial" panose="020B0604020202020204" pitchFamily="34" charset="0"/>
              </a:rPr>
              <a:t>mode </a:t>
            </a:r>
            <a:r>
              <a:rPr lang="en-US" sz="1200" noProof="0" dirty="0">
                <a:latin typeface="Arial" panose="020B0604020202020204" pitchFamily="34" charset="0"/>
                <a:cs typeface="Arial" panose="020B0604020202020204" pitchFamily="34" charset="0"/>
              </a:rPr>
              <a:t>losses decrease as the radius increases. This occurs because when the radius increases, the mode interacts less abruptly with the refractive index discontinuity at the waveguide walls.</a:t>
            </a:r>
          </a:p>
          <a:p>
            <a:pPr algn="just"/>
            <a:endParaRPr lang="en-US" sz="120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For both TE0 and TM0 modes, propagation losses become more significant as the radius increases. For the TE0 mode, from approximately 70 µm onward, propagation losses dominate the behavior of the total losses. Therefore, it is necessary to find a balance between the two types of losses. In this case, a bending radius of around 65 µm would provide the lowest overall losses, making it a safe radius for the TE0 mode.</a:t>
            </a:r>
          </a:p>
          <a:p>
            <a:pPr algn="just"/>
            <a:endParaRPr lang="en-US" sz="1200" dirty="0">
              <a:latin typeface="Arial" panose="020B0604020202020204" pitchFamily="34" charset="0"/>
              <a:cs typeface="Arial" panose="020B0604020202020204" pitchFamily="34" charset="0"/>
            </a:endParaRPr>
          </a:p>
          <a:p>
            <a:pPr algn="just"/>
            <a:r>
              <a:rPr lang="en-US" sz="1200" noProof="0" dirty="0">
                <a:latin typeface="Arial" panose="020B0604020202020204" pitchFamily="34" charset="0"/>
                <a:cs typeface="Arial" panose="020B0604020202020204" pitchFamily="34" charset="0"/>
              </a:rPr>
              <a:t>For the TM0 mode, we observe larger losses. Additionally, even at 150 µm the final behavior is not yet fully dominated by propagation losses, although this is likely where they begin to dominate. Therefore, if the goal is to propagate the TM0 mode in this waveguide, larger bending radii are required compared to the TE0 case.</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FE8755-B0BF-14B7-64E6-4BBB2560B9A6}"/>
              </a:ext>
            </a:extLst>
          </p:cNvPr>
          <p:cNvSpPr/>
          <p:nvPr/>
        </p:nvSpPr>
        <p:spPr>
          <a:xfrm>
            <a:off x="304800" y="1418372"/>
            <a:ext cx="6264002" cy="4677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p:pic>
        <p:nvPicPr>
          <p:cNvPr id="10" name="Imagen 9">
            <a:extLst>
              <a:ext uri="{FF2B5EF4-FFF2-40B4-BE49-F238E27FC236}">
                <a16:creationId xmlns:a16="http://schemas.microsoft.com/office/drawing/2014/main" id="{F8C1959B-E2C3-46CD-3B61-6D7126E9B0F7}"/>
              </a:ext>
            </a:extLst>
          </p:cNvPr>
          <p:cNvPicPr>
            <a:picLocks noChangeAspect="1"/>
          </p:cNvPicPr>
          <p:nvPr/>
        </p:nvPicPr>
        <p:blipFill>
          <a:blip r:embed="rId5"/>
          <a:stretch>
            <a:fillRect/>
          </a:stretch>
        </p:blipFill>
        <p:spPr>
          <a:xfrm>
            <a:off x="457201" y="1470434"/>
            <a:ext cx="2880000" cy="2232368"/>
          </a:xfrm>
          <a:prstGeom prst="rect">
            <a:avLst/>
          </a:prstGeom>
        </p:spPr>
      </p:pic>
      <p:pic>
        <p:nvPicPr>
          <p:cNvPr id="12" name="Imagen 11">
            <a:extLst>
              <a:ext uri="{FF2B5EF4-FFF2-40B4-BE49-F238E27FC236}">
                <a16:creationId xmlns:a16="http://schemas.microsoft.com/office/drawing/2014/main" id="{569F9F3D-9E5D-BE0E-DF2D-B4844690F3C4}"/>
              </a:ext>
            </a:extLst>
          </p:cNvPr>
          <p:cNvPicPr>
            <a:picLocks noChangeAspect="1"/>
          </p:cNvPicPr>
          <p:nvPr/>
        </p:nvPicPr>
        <p:blipFill>
          <a:blip r:embed="rId6"/>
          <a:stretch>
            <a:fillRect/>
          </a:stretch>
        </p:blipFill>
        <p:spPr>
          <a:xfrm>
            <a:off x="3410888" y="1498925"/>
            <a:ext cx="2880000" cy="2275000"/>
          </a:xfrm>
          <a:prstGeom prst="rect">
            <a:avLst/>
          </a:prstGeom>
        </p:spPr>
      </p:pic>
      <p:pic>
        <p:nvPicPr>
          <p:cNvPr id="15" name="Imagen 14">
            <a:extLst>
              <a:ext uri="{FF2B5EF4-FFF2-40B4-BE49-F238E27FC236}">
                <a16:creationId xmlns:a16="http://schemas.microsoft.com/office/drawing/2014/main" id="{F49F4D02-C865-893E-90D1-967FDA1464FF}"/>
              </a:ext>
            </a:extLst>
          </p:cNvPr>
          <p:cNvPicPr>
            <a:picLocks noChangeAspect="1"/>
          </p:cNvPicPr>
          <p:nvPr/>
        </p:nvPicPr>
        <p:blipFill>
          <a:blip r:embed="rId7"/>
          <a:stretch>
            <a:fillRect/>
          </a:stretch>
        </p:blipFill>
        <p:spPr>
          <a:xfrm>
            <a:off x="457201" y="3842604"/>
            <a:ext cx="2880000" cy="2087518"/>
          </a:xfrm>
          <a:prstGeom prst="rect">
            <a:avLst/>
          </a:prstGeom>
        </p:spPr>
      </p:pic>
      <p:pic>
        <p:nvPicPr>
          <p:cNvPr id="18" name="Imagen 17">
            <a:extLst>
              <a:ext uri="{FF2B5EF4-FFF2-40B4-BE49-F238E27FC236}">
                <a16:creationId xmlns:a16="http://schemas.microsoft.com/office/drawing/2014/main" id="{710E201C-7B5D-8CAA-F915-87FA252D8C64}"/>
              </a:ext>
            </a:extLst>
          </p:cNvPr>
          <p:cNvPicPr>
            <a:picLocks noChangeAspect="1"/>
          </p:cNvPicPr>
          <p:nvPr/>
        </p:nvPicPr>
        <p:blipFill>
          <a:blip r:embed="rId8"/>
          <a:stretch>
            <a:fillRect/>
          </a:stretch>
        </p:blipFill>
        <p:spPr>
          <a:xfrm>
            <a:off x="3410888" y="3655122"/>
            <a:ext cx="2880000" cy="2275000"/>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362E9-4EF2-374D-8182-0F996F5E891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25534C6-91A7-F047-3828-B746C3759AD0}"/>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s-CO" sz="2500" noProof="0" dirty="0" err="1"/>
              <a:t>Learning</a:t>
            </a:r>
            <a:r>
              <a:rPr lang="es-CO" sz="2500" noProof="0" dirty="0"/>
              <a:t> </a:t>
            </a:r>
            <a:r>
              <a:rPr lang="es-CO" sz="2500" noProof="0" dirty="0" err="1"/>
              <a:t>outcome</a:t>
            </a:r>
            <a:r>
              <a:rPr lang="es-CO" sz="2500" noProof="0" dirty="0"/>
              <a:t> #4 – Bend </a:t>
            </a:r>
            <a:r>
              <a:rPr lang="es-CO" sz="2500" noProof="0" dirty="0" err="1"/>
              <a:t>waveguide</a:t>
            </a:r>
            <a:r>
              <a:rPr lang="es-CO" sz="2500" noProof="0" dirty="0"/>
              <a:t> </a:t>
            </a:r>
            <a:r>
              <a:rPr lang="es-CO" sz="2500" noProof="0" dirty="0" err="1"/>
              <a:t>radius</a:t>
            </a:r>
            <a:r>
              <a:rPr lang="es-CO" sz="2500" noProof="0" dirty="0"/>
              <a:t> vs. </a:t>
            </a:r>
            <a:r>
              <a:rPr lang="es-CO" sz="2500" noProof="0" dirty="0" err="1"/>
              <a:t>loss</a:t>
            </a:r>
            <a:r>
              <a:rPr lang="es-CO" sz="2500" noProof="0" dirty="0"/>
              <a:t> – </a:t>
            </a:r>
            <a:r>
              <a:rPr lang="es-CO" sz="2500" noProof="0" dirty="0" err="1"/>
              <a:t>deep</a:t>
            </a:r>
            <a:br>
              <a:rPr lang="es-CO" sz="2500" noProof="0" dirty="0"/>
            </a:br>
            <a:r>
              <a:rPr lang="en-US" b="0" dirty="0"/>
              <a:t>Use the code provided in this section to calculate the safe radius for 1.2 um width deep waveguides at 1.5 um.</a:t>
            </a:r>
            <a:br>
              <a:rPr lang="en-US" b="0" dirty="0"/>
            </a:br>
            <a:br>
              <a:rPr lang="es-CO" sz="2500" noProof="0" dirty="0"/>
            </a:b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E85A83B2-DE96-1F40-F9DD-43BC72F0D7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C69CE97-ADD2-558B-8E8B-31412D681100}"/>
              </a:ext>
            </a:extLst>
          </p:cNvPr>
          <p:cNvSpPr>
            <a:spLocks noGrp="1"/>
          </p:cNvSpPr>
          <p:nvPr>
            <p:ph type="sldNum" sz="quarter" idx="7"/>
          </p:nvPr>
        </p:nvSpPr>
        <p:spPr/>
        <p:txBody>
          <a:bodyPr/>
          <a:lstStyle/>
          <a:p>
            <a:fld id="{B6F15528-21DE-4FAA-801E-634DDDAF4B2B}" type="slidenum">
              <a:rPr lang="es-CO" noProof="0" smtClean="0"/>
              <a:t>10</a:t>
            </a:fld>
            <a:endParaRPr lang="es-CO" noProof="0" dirty="0"/>
          </a:p>
        </p:txBody>
      </p:sp>
      <p:sp>
        <p:nvSpPr>
          <p:cNvPr id="3" name="Marcador de pie de página 2">
            <a:extLst>
              <a:ext uri="{FF2B5EF4-FFF2-40B4-BE49-F238E27FC236}">
                <a16:creationId xmlns:a16="http://schemas.microsoft.com/office/drawing/2014/main" id="{6D565AE7-A8EF-92E1-7293-A5C503D05BF7}"/>
              </a:ext>
            </a:extLst>
          </p:cNvPr>
          <p:cNvSpPr>
            <a:spLocks noGrp="1"/>
          </p:cNvSpPr>
          <p:nvPr>
            <p:ph type="ftr" sz="quarter" idx="5"/>
          </p:nvPr>
        </p:nvSpPr>
        <p:spPr/>
        <p:txBody>
          <a:bodyPr/>
          <a:lstStyle/>
          <a:p>
            <a:pPr marL="12700">
              <a:spcBef>
                <a:spcPts val="15"/>
              </a:spcBef>
            </a:pPr>
            <a:r>
              <a:rPr lang="es-CO" spc="-5" noProof="0" dirty="0"/>
              <a:t>LAB 1.0. WAVEGUIDES</a:t>
            </a:r>
          </a:p>
        </p:txBody>
      </p:sp>
      <p:sp>
        <p:nvSpPr>
          <p:cNvPr id="2" name="CuadroTexto 1">
            <a:extLst>
              <a:ext uri="{FF2B5EF4-FFF2-40B4-BE49-F238E27FC236}">
                <a16:creationId xmlns:a16="http://schemas.microsoft.com/office/drawing/2014/main" id="{4F394DDF-3E49-7C28-2005-540B5681A1EB}"/>
              </a:ext>
            </a:extLst>
          </p:cNvPr>
          <p:cNvSpPr txBox="1"/>
          <p:nvPr/>
        </p:nvSpPr>
        <p:spPr>
          <a:xfrm>
            <a:off x="609600" y="4860334"/>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Now, in the case of a 1.2 µm width deep waveguide at a wavelength of 1.5 µm, the safe radius would be approximately 85 µm. This value is larger than in the previous case, where the safe radius was around 65 µm. This difference may be caused by both the change in wavelength and the increase in the core width.</a:t>
            </a:r>
            <a:endParaRPr lang="es-CO" sz="120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091E93B1-6CD6-C0A3-B44D-A07D8C741DC5}"/>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706F372-2C0E-8BC9-CCBF-ACCD917802CA}"/>
                  </a:ext>
                </a:extLst>
              </p:cNvPr>
              <p:cNvSpPr txBox="1"/>
              <p:nvPr/>
            </p:nvSpPr>
            <p:spPr>
              <a:xfrm>
                <a:off x="9914680" y="4262088"/>
                <a:ext cx="1856534" cy="439608"/>
              </a:xfrm>
              <a:prstGeom prst="rect">
                <a:avLst/>
              </a:prstGeom>
              <a:noFill/>
            </p:spPr>
            <p:txBody>
              <a:bodyPr wrap="none" lIns="0" tIns="0" rIns="0" bIns="0" rtlCol="0">
                <a:spAutoFit/>
              </a:bodyPr>
              <a:lstStyle/>
              <a:p>
                <a14:m>
                  <m:oMath xmlns:m="http://schemas.openxmlformats.org/officeDocument/2006/math">
                    <m:r>
                      <a:rPr lang="es-CO" sz="1800" b="0" i="1" noProof="0" smtClean="0">
                        <a:latin typeface="Cambria Math" panose="02040503050406030204" pitchFamily="18" charset="0"/>
                      </a:rPr>
                      <m:t>𝛼</m:t>
                    </m:r>
                    <m:d>
                      <m:dPr>
                        <m:begChr m:val="["/>
                        <m:endChr m:val="]"/>
                        <m:ctrlPr>
                          <a:rPr lang="es-CO" sz="1800" b="0" i="1" noProof="0" smtClean="0">
                            <a:latin typeface="Cambria Math" panose="02040503050406030204" pitchFamily="18" charset="0"/>
                          </a:rPr>
                        </m:ctrlPr>
                      </m:dPr>
                      <m:e>
                        <m:f>
                          <m:fPr>
                            <m:ctrlPr>
                              <a:rPr lang="es-CO" sz="1800" b="0" i="1" noProof="0" smtClean="0">
                                <a:latin typeface="Cambria Math" panose="02040503050406030204" pitchFamily="18" charset="0"/>
                              </a:rPr>
                            </m:ctrlPr>
                          </m:fPr>
                          <m:num>
                            <m:r>
                              <a:rPr lang="es-CO" sz="1800" b="0" i="1" noProof="0" smtClean="0">
                                <a:latin typeface="Cambria Math" panose="02040503050406030204" pitchFamily="18" charset="0"/>
                              </a:rPr>
                              <m:t>𝑑𝐵</m:t>
                            </m:r>
                          </m:num>
                          <m:den>
                            <m:r>
                              <a:rPr lang="es-CO" sz="1800" b="0" i="1" noProof="0" smtClean="0">
                                <a:latin typeface="Cambria Math" panose="02040503050406030204" pitchFamily="18" charset="0"/>
                              </a:rPr>
                              <m:t>90</m:t>
                            </m:r>
                            <m:r>
                              <a:rPr lang="es-CO" sz="1800" b="0" i="1" noProof="0" smtClean="0">
                                <a:latin typeface="Cambria Math" panose="02040503050406030204" pitchFamily="18" charset="0"/>
                                <a:ea typeface="Cambria Math" panose="02040503050406030204" pitchFamily="18" charset="0"/>
                              </a:rPr>
                              <m:t>°</m:t>
                            </m:r>
                          </m:den>
                        </m:f>
                      </m:e>
                    </m:d>
                    <m:r>
                      <a:rPr lang="es-CO" sz="1800" b="0" i="1" noProof="0" smtClean="0">
                        <a:latin typeface="Cambria Math" panose="02040503050406030204" pitchFamily="18" charset="0"/>
                      </a:rPr>
                      <m:t>=</m:t>
                    </m:r>
                  </m:oMath>
                </a14:m>
                <a:r>
                  <a:rPr lang="es-CO" sz="1800" noProof="0" dirty="0"/>
                  <a:t> </a:t>
                </a:r>
                <a14:m>
                  <m:oMath xmlns:m="http://schemas.openxmlformats.org/officeDocument/2006/math">
                    <m:r>
                      <m:rPr>
                        <m:sty m:val="p"/>
                      </m:rPr>
                      <a:rPr lang="es-CO" sz="1800" b="0" i="0" noProof="0" smtClean="0">
                        <a:latin typeface="Cambria Math" panose="02040503050406030204" pitchFamily="18" charset="0"/>
                      </a:rPr>
                      <m:t>R</m:t>
                    </m:r>
                    <m:f>
                      <m:fPr>
                        <m:ctrlPr>
                          <a:rPr lang="es-CO" sz="1800" b="0" i="1" noProof="0" smtClean="0">
                            <a:latin typeface="Cambria Math" panose="02040503050406030204" pitchFamily="18" charset="0"/>
                          </a:rPr>
                        </m:ctrlPr>
                      </m:fPr>
                      <m:num>
                        <m:r>
                          <a:rPr lang="es-CO" sz="1800" b="0" i="1" noProof="0" smtClean="0">
                            <a:latin typeface="Cambria Math" panose="02040503050406030204" pitchFamily="18" charset="0"/>
                          </a:rPr>
                          <m:t>𝜋</m:t>
                        </m:r>
                      </m:num>
                      <m:den>
                        <m:r>
                          <a:rPr lang="es-CO" sz="1800" b="0" i="1" noProof="0" smtClean="0">
                            <a:latin typeface="Cambria Math" panose="02040503050406030204" pitchFamily="18" charset="0"/>
                          </a:rPr>
                          <m:t>2</m:t>
                        </m:r>
                      </m:den>
                    </m:f>
                    <m:r>
                      <a:rPr lang="es-CO" sz="1800" i="1" noProof="0" smtClean="0">
                        <a:latin typeface="Cambria Math" panose="02040503050406030204" pitchFamily="18" charset="0"/>
                      </a:rPr>
                      <m:t>𝛼</m:t>
                    </m:r>
                    <m:d>
                      <m:dPr>
                        <m:begChr m:val="["/>
                        <m:endChr m:val="]"/>
                        <m:ctrlPr>
                          <a:rPr lang="es-CO" sz="1800" i="1" noProof="0" smtClean="0">
                            <a:latin typeface="Cambria Math" panose="02040503050406030204" pitchFamily="18" charset="0"/>
                          </a:rPr>
                        </m:ctrlPr>
                      </m:dPr>
                      <m:e>
                        <m:f>
                          <m:fPr>
                            <m:ctrlPr>
                              <a:rPr lang="es-CO" sz="1800" i="1" noProof="0" smtClean="0">
                                <a:latin typeface="Cambria Math" panose="02040503050406030204" pitchFamily="18" charset="0"/>
                              </a:rPr>
                            </m:ctrlPr>
                          </m:fPr>
                          <m:num>
                            <m:r>
                              <a:rPr lang="es-CO" sz="1800" i="1" noProof="0" smtClean="0">
                                <a:latin typeface="Cambria Math" panose="02040503050406030204" pitchFamily="18" charset="0"/>
                              </a:rPr>
                              <m:t>𝑑𝐵</m:t>
                            </m:r>
                          </m:num>
                          <m:den>
                            <m:r>
                              <a:rPr lang="es-CO" sz="1800" i="1" noProof="0" smtClean="0">
                                <a:latin typeface="Cambria Math" panose="02040503050406030204" pitchFamily="18" charset="0"/>
                              </a:rPr>
                              <m:t>µ</m:t>
                            </m:r>
                            <m:r>
                              <a:rPr lang="es-CO" sz="1800" i="1" noProof="0" smtClean="0">
                                <a:latin typeface="Cambria Math" panose="02040503050406030204" pitchFamily="18" charset="0"/>
                              </a:rPr>
                              <m:t>𝑚</m:t>
                            </m:r>
                          </m:den>
                        </m:f>
                      </m:e>
                    </m:d>
                  </m:oMath>
                </a14:m>
                <a:endParaRPr lang="es-CO" sz="1800" noProof="0" dirty="0"/>
              </a:p>
            </p:txBody>
          </p:sp>
        </mc:Choice>
        <mc:Fallback xmlns="">
          <p:sp>
            <p:nvSpPr>
              <p:cNvPr id="13" name="CuadroTexto 12">
                <a:extLst>
                  <a:ext uri="{FF2B5EF4-FFF2-40B4-BE49-F238E27FC236}">
                    <a16:creationId xmlns:a16="http://schemas.microsoft.com/office/drawing/2014/main" id="{7706F372-2C0E-8BC9-CCBF-ACCD917802CA}"/>
                  </a:ext>
                </a:extLst>
              </p:cNvPr>
              <p:cNvSpPr txBox="1">
                <a:spLocks noRot="1" noChangeAspect="1" noMove="1" noResize="1" noEditPoints="1" noAdjustHandles="1" noChangeArrowheads="1" noChangeShapeType="1" noTextEdit="1"/>
              </p:cNvSpPr>
              <p:nvPr/>
            </p:nvSpPr>
            <p:spPr>
              <a:xfrm>
                <a:off x="9914680" y="4262088"/>
                <a:ext cx="1856534" cy="439608"/>
              </a:xfrm>
              <a:prstGeom prst="rect">
                <a:avLst/>
              </a:prstGeom>
              <a:blipFill>
                <a:blip r:embed="rId5"/>
                <a:stretch>
                  <a:fillRect l="-3279" b="-13889"/>
                </a:stretch>
              </a:blipFill>
            </p:spPr>
            <p:txBody>
              <a:bodyPr/>
              <a:lstStyle/>
              <a:p>
                <a:r>
                  <a:rPr lang="es-CO">
                    <a:noFill/>
                  </a:rPr>
                  <a:t> </a:t>
                </a:r>
              </a:p>
            </p:txBody>
          </p:sp>
        </mc:Fallback>
      </mc:AlternateContent>
      <p:pic>
        <p:nvPicPr>
          <p:cNvPr id="5" name="Imagen 4">
            <a:extLst>
              <a:ext uri="{FF2B5EF4-FFF2-40B4-BE49-F238E27FC236}">
                <a16:creationId xmlns:a16="http://schemas.microsoft.com/office/drawing/2014/main" id="{8B8FE707-4743-4A7D-888C-FAB5F90AB6F4}"/>
              </a:ext>
            </a:extLst>
          </p:cNvPr>
          <p:cNvPicPr>
            <a:picLocks noChangeAspect="1"/>
          </p:cNvPicPr>
          <p:nvPr/>
        </p:nvPicPr>
        <p:blipFill>
          <a:blip r:embed="rId6"/>
          <a:stretch>
            <a:fillRect/>
          </a:stretch>
        </p:blipFill>
        <p:spPr>
          <a:xfrm>
            <a:off x="2351455" y="1654036"/>
            <a:ext cx="3715516" cy="2880000"/>
          </a:xfrm>
          <a:prstGeom prst="rect">
            <a:avLst/>
          </a:prstGeom>
        </p:spPr>
      </p:pic>
      <p:pic>
        <p:nvPicPr>
          <p:cNvPr id="8" name="Imagen 7">
            <a:extLst>
              <a:ext uri="{FF2B5EF4-FFF2-40B4-BE49-F238E27FC236}">
                <a16:creationId xmlns:a16="http://schemas.microsoft.com/office/drawing/2014/main" id="{D535B5E8-833B-E6B5-F629-45CC37AFEB71}"/>
              </a:ext>
            </a:extLst>
          </p:cNvPr>
          <p:cNvPicPr>
            <a:picLocks noChangeAspect="1"/>
          </p:cNvPicPr>
          <p:nvPr/>
        </p:nvPicPr>
        <p:blipFill>
          <a:blip r:embed="rId7"/>
          <a:stretch>
            <a:fillRect/>
          </a:stretch>
        </p:blipFill>
        <p:spPr>
          <a:xfrm>
            <a:off x="6212331" y="1654036"/>
            <a:ext cx="3645890" cy="2880000"/>
          </a:xfrm>
          <a:prstGeom prst="rect">
            <a:avLst/>
          </a:prstGeom>
        </p:spPr>
      </p:pic>
    </p:spTree>
    <p:extLst>
      <p:ext uri="{BB962C8B-B14F-4D97-AF65-F5344CB8AC3E}">
        <p14:creationId xmlns:p14="http://schemas.microsoft.com/office/powerpoint/2010/main" val="3382675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D5949-F2F7-449F-DD5C-3A4C043E1BD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7235206-39C4-28CB-0981-2A9F452326C1}"/>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s-CO" sz="2500" noProof="0" dirty="0" err="1"/>
              <a:t>Learning</a:t>
            </a:r>
            <a:r>
              <a:rPr lang="es-CO" sz="2500" noProof="0" dirty="0"/>
              <a:t> </a:t>
            </a:r>
            <a:r>
              <a:rPr lang="es-CO" sz="2500" noProof="0" dirty="0" err="1"/>
              <a:t>outcome</a:t>
            </a:r>
            <a:r>
              <a:rPr lang="es-CO" sz="2500" noProof="0" dirty="0"/>
              <a:t> #4 – Bend </a:t>
            </a:r>
            <a:r>
              <a:rPr lang="es-CO" sz="2500" noProof="0" dirty="0" err="1"/>
              <a:t>waveguide</a:t>
            </a:r>
            <a:r>
              <a:rPr lang="es-CO" sz="2500" noProof="0" dirty="0"/>
              <a:t> </a:t>
            </a:r>
            <a:r>
              <a:rPr lang="es-CO" sz="2500" noProof="0" dirty="0" err="1"/>
              <a:t>radius</a:t>
            </a:r>
            <a:r>
              <a:rPr lang="es-CO" sz="2500" noProof="0" dirty="0"/>
              <a:t> vs. </a:t>
            </a:r>
            <a:r>
              <a:rPr lang="es-CO" sz="2500" noProof="0" dirty="0" err="1"/>
              <a:t>loss</a:t>
            </a:r>
            <a:r>
              <a:rPr lang="es-CO" sz="2500" noProof="0" dirty="0"/>
              <a:t> – </a:t>
            </a:r>
            <a:r>
              <a:rPr lang="es-CO" sz="2500" noProof="0" dirty="0" err="1"/>
              <a:t>deep</a:t>
            </a:r>
            <a:br>
              <a:rPr lang="es-CO" sz="2500" noProof="0" dirty="0"/>
            </a:br>
            <a:r>
              <a:rPr lang="en-US" b="0" dirty="0"/>
              <a:t>Use the code provided in this section to calculate the safe radius for 0.5 um width deep waveguides at 1.55 um – </a:t>
            </a:r>
            <a:r>
              <a:rPr lang="en-US" i="1" dirty="0"/>
              <a:t>Silicon On Insulator</a:t>
            </a:r>
            <a:br>
              <a:rPr lang="en-US" b="0" dirty="0"/>
            </a:br>
            <a:br>
              <a:rPr lang="es-CO" sz="2500" noProof="0" dirty="0"/>
            </a:br>
            <a:endParaRPr lang="es-CO" sz="2500" b="0" noProof="0" dirty="0">
              <a:latin typeface="+mj-lt"/>
              <a:cs typeface="Lucida Sans"/>
            </a:endParaRPr>
          </a:p>
        </p:txBody>
      </p:sp>
      <p:pic>
        <p:nvPicPr>
          <p:cNvPr id="83" name="Gráfico 82">
            <a:extLst>
              <a:ext uri="{FF2B5EF4-FFF2-40B4-BE49-F238E27FC236}">
                <a16:creationId xmlns:a16="http://schemas.microsoft.com/office/drawing/2014/main" id="{6493B621-2DF2-6BF7-943C-B121FC3DF5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C27BEF8-E1D8-3C91-69C4-6DD343309B15}"/>
              </a:ext>
            </a:extLst>
          </p:cNvPr>
          <p:cNvSpPr>
            <a:spLocks noGrp="1"/>
          </p:cNvSpPr>
          <p:nvPr>
            <p:ph type="sldNum" sz="quarter" idx="7"/>
          </p:nvPr>
        </p:nvSpPr>
        <p:spPr/>
        <p:txBody>
          <a:bodyPr/>
          <a:lstStyle/>
          <a:p>
            <a:fld id="{B6F15528-21DE-4FAA-801E-634DDDAF4B2B}" type="slidenum">
              <a:rPr lang="es-CO" noProof="0" smtClean="0"/>
              <a:t>11</a:t>
            </a:fld>
            <a:endParaRPr lang="es-CO" noProof="0" dirty="0"/>
          </a:p>
        </p:txBody>
      </p:sp>
      <p:sp>
        <p:nvSpPr>
          <p:cNvPr id="3" name="Marcador de pie de página 2">
            <a:extLst>
              <a:ext uri="{FF2B5EF4-FFF2-40B4-BE49-F238E27FC236}">
                <a16:creationId xmlns:a16="http://schemas.microsoft.com/office/drawing/2014/main" id="{668090AA-330E-E7F9-A461-09631B42DFDE}"/>
              </a:ext>
            </a:extLst>
          </p:cNvPr>
          <p:cNvSpPr>
            <a:spLocks noGrp="1"/>
          </p:cNvSpPr>
          <p:nvPr>
            <p:ph type="ftr" sz="quarter" idx="5"/>
          </p:nvPr>
        </p:nvSpPr>
        <p:spPr/>
        <p:txBody>
          <a:bodyPr/>
          <a:lstStyle/>
          <a:p>
            <a:pPr marL="12700">
              <a:spcBef>
                <a:spcPts val="15"/>
              </a:spcBef>
            </a:pPr>
            <a:r>
              <a:rPr lang="es-CO" spc="-5" noProof="0" dirty="0"/>
              <a:t>LAB 1.0. WAVEGUIDES</a:t>
            </a:r>
          </a:p>
        </p:txBody>
      </p:sp>
      <p:sp>
        <p:nvSpPr>
          <p:cNvPr id="2" name="CuadroTexto 1">
            <a:extLst>
              <a:ext uri="{FF2B5EF4-FFF2-40B4-BE49-F238E27FC236}">
                <a16:creationId xmlns:a16="http://schemas.microsoft.com/office/drawing/2014/main" id="{CEC17DC9-1A15-35EE-E65B-D7ADDCCAF880}"/>
              </a:ext>
            </a:extLst>
          </p:cNvPr>
          <p:cNvSpPr txBox="1"/>
          <p:nvPr/>
        </p:nvSpPr>
        <p:spPr>
          <a:xfrm>
            <a:off x="609600"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noProof="0" dirty="0">
                <a:latin typeface="Arial" panose="020B0604020202020204" pitchFamily="34" charset="0"/>
                <a:cs typeface="Arial" panose="020B0604020202020204" pitchFamily="34" charset="0"/>
              </a:rPr>
              <a:t>Finally, for the </a:t>
            </a:r>
            <a:r>
              <a:rPr lang="en-US" sz="1200" b="1" noProof="0" dirty="0">
                <a:latin typeface="Arial" panose="020B0604020202020204" pitchFamily="34" charset="0"/>
                <a:cs typeface="Arial" panose="020B0604020202020204" pitchFamily="34" charset="0"/>
              </a:rPr>
              <a:t>SOI</a:t>
            </a:r>
            <a:r>
              <a:rPr lang="en-US" sz="1200" noProof="0" dirty="0">
                <a:latin typeface="Arial" panose="020B0604020202020204" pitchFamily="34" charset="0"/>
                <a:cs typeface="Arial" panose="020B0604020202020204" pitchFamily="34" charset="0"/>
              </a:rPr>
              <a:t> case, we observe that a safe radius is around 15 µm, which is significantly smaller compared with the </a:t>
            </a:r>
            <a:r>
              <a:rPr lang="en-US" sz="1200" noProof="0" dirty="0" err="1">
                <a:latin typeface="Arial" panose="020B0604020202020204" pitchFamily="34" charset="0"/>
                <a:cs typeface="Arial" panose="020B0604020202020204" pitchFamily="34" charset="0"/>
              </a:rPr>
              <a:t>SiNx</a:t>
            </a:r>
            <a:r>
              <a:rPr lang="en-US" sz="1200" noProof="0" dirty="0">
                <a:latin typeface="Arial" panose="020B0604020202020204" pitchFamily="34" charset="0"/>
                <a:cs typeface="Arial" panose="020B0604020202020204" pitchFamily="34" charset="0"/>
              </a:rPr>
              <a:t> case, where the safe radius was about 65 µm. This represents a reduction by a factor of about 4.3. Therefore, SOI technology allows much smaller bending radii and consequently more compact integrated circuits. However, care must still be taken, since larger radii will increase propagation losses. Nevertheless, the total losses in dB remain smaller because the technology itself is more compact and the propagation distances are shorter.</a:t>
            </a:r>
            <a:endParaRPr lang="es-CO" sz="1200" noProof="0" dirty="0">
              <a:latin typeface="Arial" panose="020B0604020202020204" pitchFamily="34" charset="0"/>
              <a:cs typeface="Arial" panose="020B0604020202020204" pitchFamily="34" charset="0"/>
            </a:endParaRPr>
          </a:p>
          <a:p>
            <a:pPr algn="just"/>
            <a:endParaRPr lang="es-CO" sz="1200" noProof="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87D2B385-CC1F-9E83-99FF-D4FC9F1F28BC}"/>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noProof="0" dirty="0"/>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124D1D9F-D05A-A589-58DD-B4240144B54E}"/>
                  </a:ext>
                </a:extLst>
              </p:cNvPr>
              <p:cNvSpPr txBox="1"/>
              <p:nvPr/>
            </p:nvSpPr>
            <p:spPr>
              <a:xfrm>
                <a:off x="9914680" y="4262088"/>
                <a:ext cx="1856534" cy="439608"/>
              </a:xfrm>
              <a:prstGeom prst="rect">
                <a:avLst/>
              </a:prstGeom>
              <a:noFill/>
            </p:spPr>
            <p:txBody>
              <a:bodyPr wrap="none" lIns="0" tIns="0" rIns="0" bIns="0" rtlCol="0">
                <a:spAutoFit/>
              </a:bodyPr>
              <a:lstStyle/>
              <a:p>
                <a14:m>
                  <m:oMath xmlns:m="http://schemas.openxmlformats.org/officeDocument/2006/math">
                    <m:r>
                      <a:rPr lang="es-CO" sz="1800" b="0" i="1" noProof="0" smtClean="0">
                        <a:latin typeface="Cambria Math" panose="02040503050406030204" pitchFamily="18" charset="0"/>
                      </a:rPr>
                      <m:t>𝛼</m:t>
                    </m:r>
                    <m:d>
                      <m:dPr>
                        <m:begChr m:val="["/>
                        <m:endChr m:val="]"/>
                        <m:ctrlPr>
                          <a:rPr lang="es-CO" sz="1800" b="0" i="1" noProof="0" smtClean="0">
                            <a:latin typeface="Cambria Math" panose="02040503050406030204" pitchFamily="18" charset="0"/>
                          </a:rPr>
                        </m:ctrlPr>
                      </m:dPr>
                      <m:e>
                        <m:f>
                          <m:fPr>
                            <m:ctrlPr>
                              <a:rPr lang="es-CO" sz="1800" b="0" i="1" noProof="0" smtClean="0">
                                <a:latin typeface="Cambria Math" panose="02040503050406030204" pitchFamily="18" charset="0"/>
                              </a:rPr>
                            </m:ctrlPr>
                          </m:fPr>
                          <m:num>
                            <m:r>
                              <a:rPr lang="es-CO" sz="1800" b="0" i="1" noProof="0" smtClean="0">
                                <a:latin typeface="Cambria Math" panose="02040503050406030204" pitchFamily="18" charset="0"/>
                              </a:rPr>
                              <m:t>𝑑𝐵</m:t>
                            </m:r>
                          </m:num>
                          <m:den>
                            <m:r>
                              <a:rPr lang="es-CO" sz="1800" b="0" i="1" noProof="0" smtClean="0">
                                <a:latin typeface="Cambria Math" panose="02040503050406030204" pitchFamily="18" charset="0"/>
                              </a:rPr>
                              <m:t>90</m:t>
                            </m:r>
                            <m:r>
                              <a:rPr lang="es-CO" sz="1800" b="0" i="1" noProof="0" smtClean="0">
                                <a:latin typeface="Cambria Math" panose="02040503050406030204" pitchFamily="18" charset="0"/>
                                <a:ea typeface="Cambria Math" panose="02040503050406030204" pitchFamily="18" charset="0"/>
                              </a:rPr>
                              <m:t>°</m:t>
                            </m:r>
                          </m:den>
                        </m:f>
                      </m:e>
                    </m:d>
                    <m:r>
                      <a:rPr lang="es-CO" sz="1800" b="0" i="1" noProof="0" smtClean="0">
                        <a:latin typeface="Cambria Math" panose="02040503050406030204" pitchFamily="18" charset="0"/>
                      </a:rPr>
                      <m:t>=</m:t>
                    </m:r>
                  </m:oMath>
                </a14:m>
                <a:r>
                  <a:rPr lang="es-CO" sz="1800" noProof="0" dirty="0"/>
                  <a:t> </a:t>
                </a:r>
                <a14:m>
                  <m:oMath xmlns:m="http://schemas.openxmlformats.org/officeDocument/2006/math">
                    <m:r>
                      <m:rPr>
                        <m:sty m:val="p"/>
                      </m:rPr>
                      <a:rPr lang="es-CO" sz="1800" b="0" i="0" noProof="0" smtClean="0">
                        <a:latin typeface="Cambria Math" panose="02040503050406030204" pitchFamily="18" charset="0"/>
                      </a:rPr>
                      <m:t>R</m:t>
                    </m:r>
                    <m:f>
                      <m:fPr>
                        <m:ctrlPr>
                          <a:rPr lang="es-CO" sz="1800" b="0" i="1" noProof="0" smtClean="0">
                            <a:latin typeface="Cambria Math" panose="02040503050406030204" pitchFamily="18" charset="0"/>
                          </a:rPr>
                        </m:ctrlPr>
                      </m:fPr>
                      <m:num>
                        <m:r>
                          <a:rPr lang="es-CO" sz="1800" b="0" i="1" noProof="0" smtClean="0">
                            <a:latin typeface="Cambria Math" panose="02040503050406030204" pitchFamily="18" charset="0"/>
                          </a:rPr>
                          <m:t>𝜋</m:t>
                        </m:r>
                      </m:num>
                      <m:den>
                        <m:r>
                          <a:rPr lang="es-CO" sz="1800" b="0" i="1" noProof="0" smtClean="0">
                            <a:latin typeface="Cambria Math" panose="02040503050406030204" pitchFamily="18" charset="0"/>
                          </a:rPr>
                          <m:t>2</m:t>
                        </m:r>
                      </m:den>
                    </m:f>
                    <m:r>
                      <a:rPr lang="es-CO" sz="1800" i="1" noProof="0" smtClean="0">
                        <a:latin typeface="Cambria Math" panose="02040503050406030204" pitchFamily="18" charset="0"/>
                      </a:rPr>
                      <m:t>𝛼</m:t>
                    </m:r>
                    <m:d>
                      <m:dPr>
                        <m:begChr m:val="["/>
                        <m:endChr m:val="]"/>
                        <m:ctrlPr>
                          <a:rPr lang="es-CO" sz="1800" i="1" noProof="0" smtClean="0">
                            <a:latin typeface="Cambria Math" panose="02040503050406030204" pitchFamily="18" charset="0"/>
                          </a:rPr>
                        </m:ctrlPr>
                      </m:dPr>
                      <m:e>
                        <m:f>
                          <m:fPr>
                            <m:ctrlPr>
                              <a:rPr lang="es-CO" sz="1800" i="1" noProof="0" smtClean="0">
                                <a:latin typeface="Cambria Math" panose="02040503050406030204" pitchFamily="18" charset="0"/>
                              </a:rPr>
                            </m:ctrlPr>
                          </m:fPr>
                          <m:num>
                            <m:r>
                              <a:rPr lang="es-CO" sz="1800" i="1" noProof="0" smtClean="0">
                                <a:latin typeface="Cambria Math" panose="02040503050406030204" pitchFamily="18" charset="0"/>
                              </a:rPr>
                              <m:t>𝑑𝐵</m:t>
                            </m:r>
                          </m:num>
                          <m:den>
                            <m:r>
                              <a:rPr lang="es-CO" sz="1800" i="1" noProof="0" smtClean="0">
                                <a:latin typeface="Cambria Math" panose="02040503050406030204" pitchFamily="18" charset="0"/>
                              </a:rPr>
                              <m:t>µ</m:t>
                            </m:r>
                            <m:r>
                              <a:rPr lang="es-CO" sz="1800" i="1" noProof="0" smtClean="0">
                                <a:latin typeface="Cambria Math" panose="02040503050406030204" pitchFamily="18" charset="0"/>
                              </a:rPr>
                              <m:t>𝑚</m:t>
                            </m:r>
                          </m:den>
                        </m:f>
                      </m:e>
                    </m:d>
                  </m:oMath>
                </a14:m>
                <a:endParaRPr lang="es-CO" sz="1800" noProof="0" dirty="0"/>
              </a:p>
            </p:txBody>
          </p:sp>
        </mc:Choice>
        <mc:Fallback xmlns="">
          <p:sp>
            <p:nvSpPr>
              <p:cNvPr id="13" name="CuadroTexto 12">
                <a:extLst>
                  <a:ext uri="{FF2B5EF4-FFF2-40B4-BE49-F238E27FC236}">
                    <a16:creationId xmlns:a16="http://schemas.microsoft.com/office/drawing/2014/main" id="{124D1D9F-D05A-A589-58DD-B4240144B54E}"/>
                  </a:ext>
                </a:extLst>
              </p:cNvPr>
              <p:cNvSpPr txBox="1">
                <a:spLocks noRot="1" noChangeAspect="1" noMove="1" noResize="1" noEditPoints="1" noAdjustHandles="1" noChangeArrowheads="1" noChangeShapeType="1" noTextEdit="1"/>
              </p:cNvSpPr>
              <p:nvPr/>
            </p:nvSpPr>
            <p:spPr>
              <a:xfrm>
                <a:off x="9914680" y="4262088"/>
                <a:ext cx="1856534" cy="439608"/>
              </a:xfrm>
              <a:prstGeom prst="rect">
                <a:avLst/>
              </a:prstGeom>
              <a:blipFill>
                <a:blip r:embed="rId5"/>
                <a:stretch>
                  <a:fillRect l="-3279" b="-13889"/>
                </a:stretch>
              </a:blipFill>
            </p:spPr>
            <p:txBody>
              <a:bodyPr/>
              <a:lstStyle/>
              <a:p>
                <a:r>
                  <a:rPr lang="es-CO">
                    <a:noFill/>
                  </a:rPr>
                  <a:t> </a:t>
                </a:r>
              </a:p>
            </p:txBody>
          </p:sp>
        </mc:Fallback>
      </mc:AlternateContent>
      <p:pic>
        <p:nvPicPr>
          <p:cNvPr id="6" name="Imagen 5">
            <a:extLst>
              <a:ext uri="{FF2B5EF4-FFF2-40B4-BE49-F238E27FC236}">
                <a16:creationId xmlns:a16="http://schemas.microsoft.com/office/drawing/2014/main" id="{0FDB1000-4638-74B8-B030-F4594425D366}"/>
              </a:ext>
            </a:extLst>
          </p:cNvPr>
          <p:cNvPicPr>
            <a:picLocks noChangeAspect="1"/>
          </p:cNvPicPr>
          <p:nvPr/>
        </p:nvPicPr>
        <p:blipFill>
          <a:blip r:embed="rId6"/>
          <a:stretch>
            <a:fillRect/>
          </a:stretch>
        </p:blipFill>
        <p:spPr>
          <a:xfrm>
            <a:off x="2057400" y="1558540"/>
            <a:ext cx="3804132" cy="2880000"/>
          </a:xfrm>
          <a:prstGeom prst="rect">
            <a:avLst/>
          </a:prstGeom>
        </p:spPr>
      </p:pic>
      <p:pic>
        <p:nvPicPr>
          <p:cNvPr id="10" name="Imagen 9">
            <a:extLst>
              <a:ext uri="{FF2B5EF4-FFF2-40B4-BE49-F238E27FC236}">
                <a16:creationId xmlns:a16="http://schemas.microsoft.com/office/drawing/2014/main" id="{9B9CB922-B8F3-30F5-422A-60F24987EAA8}"/>
              </a:ext>
            </a:extLst>
          </p:cNvPr>
          <p:cNvPicPr>
            <a:picLocks noChangeAspect="1"/>
          </p:cNvPicPr>
          <p:nvPr/>
        </p:nvPicPr>
        <p:blipFill>
          <a:blip r:embed="rId7"/>
          <a:stretch>
            <a:fillRect/>
          </a:stretch>
        </p:blipFill>
        <p:spPr>
          <a:xfrm>
            <a:off x="6096000" y="1556931"/>
            <a:ext cx="3728176" cy="2880000"/>
          </a:xfrm>
          <a:prstGeom prst="rect">
            <a:avLst/>
          </a:prstGeom>
        </p:spPr>
      </p:pic>
    </p:spTree>
    <p:extLst>
      <p:ext uri="{BB962C8B-B14F-4D97-AF65-F5344CB8AC3E}">
        <p14:creationId xmlns:p14="http://schemas.microsoft.com/office/powerpoint/2010/main" val="3292449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5800</TotalTime>
  <Words>2119</Words>
  <Application>Microsoft Office PowerPoint</Application>
  <PresentationFormat>Panorámica</PresentationFormat>
  <Paragraphs>139</Paragraphs>
  <Slides>12</Slides>
  <Notes>9</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12</vt:i4>
      </vt:variant>
    </vt:vector>
  </HeadingPairs>
  <TitlesOfParts>
    <vt:vector size="21" baseType="lpstr">
      <vt:lpstr>Aptos</vt:lpstr>
      <vt:lpstr>Arial</vt:lpstr>
      <vt:lpstr>Calibri</vt:lpstr>
      <vt:lpstr>Cambria Math</vt:lpstr>
      <vt:lpstr>Lucida Sans</vt:lpstr>
      <vt:lpstr>Times New Roman</vt:lpstr>
      <vt:lpstr>Wingdings</vt:lpstr>
      <vt:lpstr>Office Theme</vt:lpstr>
      <vt:lpstr>Worksheet</vt:lpstr>
      <vt:lpstr>Presentación de PowerPoint</vt:lpstr>
      <vt:lpstr>Instructions General</vt:lpstr>
      <vt:lpstr>Learning outcome #1 – Convergence tests DE waveguide, w = 1.2 µm, neff_TE0, wvl 1.55 µm. </vt:lpstr>
      <vt:lpstr>Learning outcome #1 – Convergence tests DE waveguide, w = 0.5 µm, neff_TE0, wvl 1.55 µm.  Silicon On Insulator</vt:lpstr>
      <vt:lpstr>Learning outcome #2 – Width dependence Width 0.6 - 1.6 µm (step 0.1 µm) – Wavelength 1.55 µm </vt:lpstr>
      <vt:lpstr>Learning outcome #2 – Width dependence Width 0.3 - 1 µm (step 0.1 µm) – Wavelength 1.55 µm – Silicon On Insulator</vt:lpstr>
      <vt:lpstr>Learning outcome #3 – Waveguide compact model </vt:lpstr>
      <vt:lpstr>Learning outcome #4 – Bend waveguide radius vs. loss – deep Find  neff_TE0 for wvl 1.55 µm, width 1.0 µm for R=25,50,75,100, 125,150 µm </vt:lpstr>
      <vt:lpstr>Learning outcome #4 – Bend waveguide radius vs. loss – deep Find  neff_TE0 for wvl 1.55 µm, width 1.0 µm for R=25,50,75,100, 125,150 µm </vt:lpstr>
      <vt:lpstr>Learning outcome #4 – Bend waveguide radius vs. loss – deep Use the code provided in this section to calculate the safe radius for 1.2 um width deep waveguides at 1.5 um.  </vt:lpstr>
      <vt:lpstr>Learning outcome #4 – Bend waveguide radius vs. loss – deep Use the code provided in this section to calculate the safe radius for 0.5 um width deep waveguides at 1.55 um – Silicon On Insulator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Paula Daniela Ortiz Cuervo</cp:lastModifiedBy>
  <cp:revision>12</cp:revision>
  <dcterms:created xsi:type="dcterms:W3CDTF">2025-01-27T02:46:57Z</dcterms:created>
  <dcterms:modified xsi:type="dcterms:W3CDTF">2026-03-07T20:13:02Z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